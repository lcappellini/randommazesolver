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5" r:id="rId2"/>
    <p:sldId id="258" r:id="rId3"/>
    <p:sldId id="273" r:id="rId4"/>
    <p:sldId id="270" r:id="rId5"/>
    <p:sldId id="269" r:id="rId6"/>
    <p:sldId id="268" r:id="rId7"/>
    <p:sldId id="272" r:id="rId8"/>
    <p:sldId id="267" r:id="rId9"/>
    <p:sldId id="274" r:id="rId10"/>
    <p:sldId id="271" r:id="rId11"/>
    <p:sldId id="264" r:id="rId12"/>
    <p:sldId id="263" r:id="rId13"/>
    <p:sldId id="262" r:id="rId14"/>
    <p:sldId id="261" r:id="rId15"/>
    <p:sldId id="260" r:id="rId16"/>
    <p:sldId id="256" r:id="rId17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6">
          <p15:clr>
            <a:srgbClr val="A4A3A4"/>
          </p15:clr>
        </p15:guide>
        <p15:guide id="2" pos="4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53"/>
    <a:srgbClr val="134979"/>
    <a:srgbClr val="003257"/>
    <a:srgbClr val="376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89" autoAdjust="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440" y="67"/>
      </p:cViewPr>
      <p:guideLst>
        <p:guide orient="horz" pos="1806"/>
        <p:guide pos="4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F3CCC-77DD-F84F-A249-CA3C5045A043}" type="datetime1">
              <a:rPr lang="it-IT" smtClean="0"/>
              <a:pPr/>
              <a:t>10/09/2026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FBF69-E6D8-384B-B1CC-31CC9EB4A4AC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14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92227-D6DC-FD45-9507-DB2BAD58473C}" type="datetime1">
              <a:rPr lang="it-IT" smtClean="0"/>
              <a:pPr/>
              <a:t>10/09/2026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986711-015B-0142-88C4-65D50E44FA77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20962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724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5808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8374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338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963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600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632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89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964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856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177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791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BED7A-0853-CC91-6061-B759C7F56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1AAE486C-2B6B-DD1D-C215-2D8D9C032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930" y="6347762"/>
            <a:ext cx="2545261" cy="52239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3BB40A36-8E35-DD31-EA70-74B9262A6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9"/>
            <a:ext cx="9144000" cy="68453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EF49F7C7-CF4D-44AA-C65F-0C7405FACC9D}"/>
              </a:ext>
            </a:extLst>
          </p:cNvPr>
          <p:cNvSpPr txBox="1"/>
          <p:nvPr/>
        </p:nvSpPr>
        <p:spPr>
          <a:xfrm>
            <a:off x="4914900" y="2932536"/>
            <a:ext cx="362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Trovare l’uscita di un labirinto con il movimento casuale di "particelle"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029C266-45C5-C5E5-2550-7D7DCA5B4155}"/>
              </a:ext>
            </a:extLst>
          </p:cNvPr>
          <p:cNvSpPr txBox="1"/>
          <p:nvPr/>
        </p:nvSpPr>
        <p:spPr>
          <a:xfrm>
            <a:off x="6524412" y="4590468"/>
            <a:ext cx="2020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1600" b="1" dirty="0">
                <a:latin typeface=""/>
              </a:rPr>
              <a:t>Lorenzo Cappellini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60803A1-B217-BEA0-0362-1ABA58393B7C}"/>
              </a:ext>
            </a:extLst>
          </p:cNvPr>
          <p:cNvSpPr txBox="1"/>
          <p:nvPr/>
        </p:nvSpPr>
        <p:spPr>
          <a:xfrm>
            <a:off x="6587860" y="6474363"/>
            <a:ext cx="1418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"/>
              </a:rPr>
              <a:t>A.A. 2025/2026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722D649-36DA-24D0-50FB-3D646627E228}"/>
              </a:ext>
            </a:extLst>
          </p:cNvPr>
          <p:cNvSpPr txBox="1"/>
          <p:nvPr/>
        </p:nvSpPr>
        <p:spPr>
          <a:xfrm>
            <a:off x="4132793" y="2339173"/>
            <a:ext cx="44117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3200" b="1" dirty="0">
                <a:solidFill>
                  <a:srgbClr val="003257"/>
                </a:solidFill>
                <a:latin typeface="Arial"/>
                <a:cs typeface="Arial"/>
              </a:rPr>
              <a:t>Random Maze Solver</a:t>
            </a:r>
            <a:endParaRPr lang="it-IT" sz="3200" b="1" dirty="0">
              <a:solidFill>
                <a:srgbClr val="003257"/>
              </a:solidFill>
              <a:latin typeface="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17649-365B-CF23-1AB7-0CD6CFD40CA1}"/>
              </a:ext>
            </a:extLst>
          </p:cNvPr>
          <p:cNvSpPr txBox="1"/>
          <p:nvPr/>
        </p:nvSpPr>
        <p:spPr>
          <a:xfrm>
            <a:off x="6796923" y="4951975"/>
            <a:ext cx="17475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latin typeface="Arial"/>
              </a:defRPr>
            </a:pPr>
            <a:r>
              <a:rPr dirty="0"/>
              <a:t>Parallel Computing</a:t>
            </a:r>
          </a:p>
        </p:txBody>
      </p:sp>
    </p:spTree>
    <p:extLst>
      <p:ext uri="{BB962C8B-B14F-4D97-AF65-F5344CB8AC3E}">
        <p14:creationId xmlns:p14="http://schemas.microsoft.com/office/powerpoint/2010/main" val="4197876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S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901" name="RunTitle"/>
          <p:cNvSpPr txBox="1"/>
          <p:nvPr/>
        </p:nvSpPr>
        <p:spPr>
          <a:xfrm>
            <a:off x="6408873" y="51433"/>
            <a:ext cx="2284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Random Maze Solver</a:t>
            </a:r>
          </a:p>
        </p:txBody>
      </p:sp>
      <p:sp>
        <p:nvSpPr>
          <p:cNvPr id="902" name="RunDate"/>
          <p:cNvSpPr txBox="1"/>
          <p:nvPr/>
        </p:nvSpPr>
        <p:spPr>
          <a:xfrm>
            <a:off x="7638717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903" name="Rettangolo"/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4" name="Numero"/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2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10" name="Titolo"/>
          <p:cNvSpPr txBox="1"/>
          <p:nvPr/>
        </p:nvSpPr>
        <p:spPr>
          <a:xfrm>
            <a:off x="648253" y="1305402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it-IT" sz="2600" b="1" dirty="0">
              <a:solidFill>
                <a:srgbClr val="376092"/>
              </a:solidFill>
              <a:latin typeface="Arial"/>
              <a:cs typeface="Arial"/>
            </a:endParaRPr>
          </a:p>
        </p:txBody>
      </p:sp>
      <p:sp>
        <p:nvSpPr>
          <p:cNvPr id="920" name="Corpo"/>
          <p:cNvSpPr txBox="1"/>
          <p:nvPr/>
        </p:nvSpPr>
        <p:spPr>
          <a:xfrm>
            <a:off x="584753" y="1536234"/>
            <a:ext cx="7819027" cy="36099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Obiettivo: </a:t>
            </a:r>
            <a:r>
              <a:rPr lang="it-IT" sz="1500" b="1" dirty="0">
                <a:latin typeface="Arial"/>
                <a:cs typeface="Arial"/>
              </a:rPr>
              <a:t>trovare l'uscita </a:t>
            </a:r>
            <a:r>
              <a:rPr lang="it-IT" sz="1500" b="0" dirty="0">
                <a:latin typeface="Arial"/>
                <a:cs typeface="Arial"/>
              </a:rPr>
              <a:t>di un labirinto simulando </a:t>
            </a:r>
            <a:r>
              <a:rPr lang="it-IT" sz="1500" b="1" dirty="0">
                <a:latin typeface="Arial"/>
                <a:cs typeface="Arial"/>
              </a:rPr>
              <a:t>particelle</a:t>
            </a:r>
            <a:r>
              <a:rPr lang="it-IT" sz="1500" b="0" dirty="0">
                <a:latin typeface="Arial"/>
                <a:cs typeface="Arial"/>
              </a:rPr>
              <a:t> che si muovono </a:t>
            </a:r>
            <a:r>
              <a:rPr lang="it-IT" sz="1500" b="1" dirty="0">
                <a:latin typeface="Arial"/>
                <a:cs typeface="Arial"/>
              </a:rPr>
              <a:t>casualmente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Partenza → movimento casuale → rimbalzo sui muri → uscita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Si lanciano </a:t>
            </a:r>
            <a:r>
              <a:rPr lang="it-IT" sz="1500" b="1" dirty="0">
                <a:latin typeface="Arial"/>
                <a:cs typeface="Arial"/>
              </a:rPr>
              <a:t>molte particelle </a:t>
            </a:r>
            <a:r>
              <a:rPr lang="it-IT" sz="1500" b="0" dirty="0">
                <a:latin typeface="Arial"/>
                <a:cs typeface="Arial"/>
              </a:rPr>
              <a:t>contemporaneamente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La prima che esce </a:t>
            </a:r>
            <a:r>
              <a:rPr lang="it-IT" sz="1350" b="1" dirty="0">
                <a:latin typeface="Arial"/>
                <a:cs typeface="Arial"/>
              </a:rPr>
              <a:t>interrompe</a:t>
            </a:r>
            <a:r>
              <a:rPr lang="it-IT" sz="1350" b="0" dirty="0">
                <a:latin typeface="Arial"/>
                <a:cs typeface="Arial"/>
              </a:rPr>
              <a:t> la ricerca → si ricostruisce il suo percorso (backtracking)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Studio sulle prestazioni con </a:t>
            </a:r>
            <a:r>
              <a:rPr lang="it-IT" sz="1500" b="1" dirty="0">
                <a:latin typeface="Arial"/>
                <a:cs typeface="Arial"/>
              </a:rPr>
              <a:t>parallelizzazione </a:t>
            </a:r>
            <a:r>
              <a:rPr lang="it-IT" sz="1500" b="1" dirty="0" err="1">
                <a:latin typeface="Arial"/>
                <a:cs typeface="Arial"/>
              </a:rPr>
              <a:t>multithread</a:t>
            </a:r>
            <a:r>
              <a:rPr lang="it-IT" sz="1600" b="1" dirty="0">
                <a:latin typeface="Arial"/>
                <a:cs typeface="Arial"/>
              </a:rPr>
              <a:t> </a:t>
            </a:r>
            <a:r>
              <a:rPr lang="it-IT" sz="1600" dirty="0">
                <a:latin typeface="Arial"/>
                <a:cs typeface="Arial"/>
              </a:rPr>
              <a:t>→ </a:t>
            </a:r>
            <a:r>
              <a:rPr lang="it-IT" sz="1600" b="1" dirty="0" err="1">
                <a:latin typeface="Arial"/>
                <a:cs typeface="Arial"/>
              </a:rPr>
              <a:t>OpenMP</a:t>
            </a:r>
            <a:endParaRPr lang="it-IT" sz="1500" b="1" dirty="0">
              <a:latin typeface="Arial"/>
              <a:cs typeface="Arial"/>
            </a:endParaRPr>
          </a:p>
        </p:txBody>
      </p:sp>
      <p:sp>
        <p:nvSpPr>
          <p:cNvPr id="3" name="Titolo">
            <a:extLst>
              <a:ext uri="{FF2B5EF4-FFF2-40B4-BE49-F238E27FC236}">
                <a16:creationId xmlns:a16="http://schemas.microsoft.com/office/drawing/2014/main" id="{7F8766A9-3B8F-D685-5CB9-79E926FF15C9}"/>
              </a:ext>
            </a:extLst>
          </p:cNvPr>
          <p:cNvSpPr txBox="1"/>
          <p:nvPr/>
        </p:nvSpPr>
        <p:spPr>
          <a:xfrm>
            <a:off x="584753" y="943452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257"/>
                </a:solidFill>
                <a:latin typeface="Arial"/>
                <a:cs typeface="Arial"/>
              </a:rPr>
              <a:t>Il problema: Random Maze Solver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S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901" name="RunTitle"/>
          <p:cNvSpPr txBox="1"/>
          <p:nvPr/>
        </p:nvSpPr>
        <p:spPr>
          <a:xfrm>
            <a:off x="6408873" y="51433"/>
            <a:ext cx="2284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Random Maze Solver</a:t>
            </a:r>
          </a:p>
        </p:txBody>
      </p:sp>
      <p:sp>
        <p:nvSpPr>
          <p:cNvPr id="902" name="RunDate"/>
          <p:cNvSpPr txBox="1"/>
          <p:nvPr/>
        </p:nvSpPr>
        <p:spPr>
          <a:xfrm>
            <a:off x="7609863" y="403482"/>
            <a:ext cx="10839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903" name="Rettangolo"/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4" name="Numero"/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3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11" name="Kicker"/>
          <p:cNvSpPr txBox="1"/>
          <p:nvPr/>
        </p:nvSpPr>
        <p:spPr>
          <a:xfrm>
            <a:off x="584753" y="1405117"/>
            <a:ext cx="7819027" cy="33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1500" i="1" dirty="0">
                <a:solidFill>
                  <a:srgbClr val="8FA3B3"/>
                </a:solidFill>
                <a:latin typeface="Arial"/>
                <a:cs typeface="Arial"/>
              </a:rPr>
              <a:t>Esito diverso a seconda della fortuna del cammino casuale</a:t>
            </a:r>
          </a:p>
        </p:txBody>
      </p:sp>
      <p:sp>
        <p:nvSpPr>
          <p:cNvPr id="952" name="Corpo"/>
          <p:cNvSpPr txBox="1"/>
          <p:nvPr/>
        </p:nvSpPr>
        <p:spPr>
          <a:xfrm>
            <a:off x="643924" y="5079406"/>
            <a:ext cx="3750000" cy="25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None/>
            </a:pPr>
            <a:r>
              <a:rPr lang="it-IT" sz="1300" b="1" dirty="0">
                <a:solidFill>
                  <a:srgbClr val="003053"/>
                </a:solidFill>
                <a:latin typeface="Arial"/>
                <a:cs typeface="Arial"/>
              </a:rPr>
              <a:t>Caso ottimo (350000 steps)</a:t>
            </a:r>
          </a:p>
        </p:txBody>
      </p:sp>
      <p:sp>
        <p:nvSpPr>
          <p:cNvPr id="953" name="Corpo"/>
          <p:cNvSpPr txBox="1"/>
          <p:nvPr/>
        </p:nvSpPr>
        <p:spPr>
          <a:xfrm>
            <a:off x="4632808" y="5057478"/>
            <a:ext cx="3750000" cy="25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None/>
            </a:pPr>
            <a:r>
              <a:rPr lang="it-IT" sz="1300" b="1" dirty="0">
                <a:solidFill>
                  <a:srgbClr val="003053"/>
                </a:solidFill>
                <a:latin typeface="Arial"/>
                <a:cs typeface="Arial"/>
              </a:rPr>
              <a:t>Caso pessimo (5 milioni di steps)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AC3A6E-36C8-57DC-F0D9-00C140B63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24" y="2738946"/>
            <a:ext cx="3867269" cy="21766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370A98-77BF-3C88-563F-AAB6B098A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808" y="2749550"/>
            <a:ext cx="3848429" cy="2166056"/>
          </a:xfrm>
          <a:prstGeom prst="rect">
            <a:avLst/>
          </a:prstGeom>
        </p:spPr>
      </p:pic>
      <p:sp>
        <p:nvSpPr>
          <p:cNvPr id="7" name="Titolo">
            <a:extLst>
              <a:ext uri="{FF2B5EF4-FFF2-40B4-BE49-F238E27FC236}">
                <a16:creationId xmlns:a16="http://schemas.microsoft.com/office/drawing/2014/main" id="{8092CCE7-670E-3C75-90AE-8BC023B06F87}"/>
              </a:ext>
            </a:extLst>
          </p:cNvPr>
          <p:cNvSpPr txBox="1"/>
          <p:nvPr/>
        </p:nvSpPr>
        <p:spPr>
          <a:xfrm>
            <a:off x="584753" y="943452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Esempio di labirinto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S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901" name="RunTitle"/>
          <p:cNvSpPr txBox="1"/>
          <p:nvPr/>
        </p:nvSpPr>
        <p:spPr>
          <a:xfrm>
            <a:off x="6408873" y="51433"/>
            <a:ext cx="2284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Random Maze Solver</a:t>
            </a:r>
          </a:p>
        </p:txBody>
      </p:sp>
      <p:sp>
        <p:nvSpPr>
          <p:cNvPr id="902" name="RunDate"/>
          <p:cNvSpPr txBox="1"/>
          <p:nvPr/>
        </p:nvSpPr>
        <p:spPr>
          <a:xfrm>
            <a:off x="7638717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903" name="Rettangolo"/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4" name="Numero"/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4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20" name="Corpo"/>
          <p:cNvSpPr txBox="1"/>
          <p:nvPr/>
        </p:nvSpPr>
        <p:spPr>
          <a:xfrm>
            <a:off x="584753" y="1560671"/>
            <a:ext cx="7819027" cy="36099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Genera il labirinto di partenza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Avvia </a:t>
            </a:r>
            <a:r>
              <a:rPr lang="it-IT" sz="1500" b="1" i="1" dirty="0">
                <a:latin typeface="Arial"/>
                <a:cs typeface="Arial"/>
              </a:rPr>
              <a:t>n</a:t>
            </a:r>
            <a:r>
              <a:rPr lang="it-IT" sz="1500" b="1" dirty="0">
                <a:latin typeface="Arial"/>
                <a:cs typeface="Arial"/>
              </a:rPr>
              <a:t> </a:t>
            </a:r>
            <a:r>
              <a:rPr lang="it-IT" sz="1500" b="1" dirty="0" err="1">
                <a:latin typeface="Arial"/>
                <a:cs typeface="Arial"/>
              </a:rPr>
              <a:t>threads</a:t>
            </a:r>
            <a:r>
              <a:rPr lang="it-IT" sz="1500" b="1" dirty="0">
                <a:latin typeface="Arial"/>
                <a:cs typeface="Arial"/>
              </a:rPr>
              <a:t> </a:t>
            </a:r>
            <a:r>
              <a:rPr lang="it-IT" sz="1500" dirty="0">
                <a:latin typeface="Arial"/>
                <a:cs typeface="Arial"/>
              </a:rPr>
              <a:t>→ </a:t>
            </a:r>
            <a:r>
              <a:rPr lang="it-IT" sz="1500" b="0" dirty="0">
                <a:latin typeface="Arial"/>
                <a:cs typeface="Arial"/>
              </a:rPr>
              <a:t>ciascuno lancia </a:t>
            </a:r>
            <a:r>
              <a:rPr lang="it-IT" sz="1500" b="1" i="1" dirty="0">
                <a:latin typeface="Arial"/>
                <a:cs typeface="Arial"/>
              </a:rPr>
              <a:t>p</a:t>
            </a:r>
            <a:r>
              <a:rPr lang="it-IT" sz="1500" b="1" dirty="0">
                <a:latin typeface="Arial"/>
                <a:cs typeface="Arial"/>
              </a:rPr>
              <a:t> particelle </a:t>
            </a:r>
            <a:r>
              <a:rPr lang="it-IT" sz="1500" b="0" dirty="0">
                <a:latin typeface="Arial"/>
                <a:cs typeface="Arial"/>
              </a:rPr>
              <a:t>indipendenti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Ogni particella avanza con </a:t>
            </a:r>
            <a:r>
              <a:rPr lang="it-IT" sz="1500" b="1" dirty="0">
                <a:latin typeface="Arial"/>
                <a:cs typeface="Arial"/>
              </a:rPr>
              <a:t>step casuali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Prima particella che trov</a:t>
            </a:r>
            <a:r>
              <a:rPr lang="it-IT" sz="1500" dirty="0">
                <a:latin typeface="Arial"/>
                <a:cs typeface="Arial"/>
              </a:rPr>
              <a:t>a l’uscita </a:t>
            </a:r>
            <a:r>
              <a:rPr lang="it-IT" sz="1500" b="0" dirty="0">
                <a:latin typeface="Arial"/>
                <a:cs typeface="Arial"/>
              </a:rPr>
              <a:t>→ misura </a:t>
            </a:r>
            <a:r>
              <a:rPr lang="it-IT" sz="1500" b="1" dirty="0">
                <a:latin typeface="Arial"/>
                <a:cs typeface="Arial"/>
              </a:rPr>
              <a:t>tempo e iterazioni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Ripete la misura </a:t>
            </a:r>
            <a:r>
              <a:rPr lang="it-IT" sz="1500" b="0" dirty="0">
                <a:latin typeface="Arial"/>
                <a:cs typeface="Arial"/>
              </a:rPr>
              <a:t>più volte per ogni coppia (p, n)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Salva tutte le misure in un file </a:t>
            </a:r>
            <a:r>
              <a:rPr lang="it-IT" sz="1500" b="0" i="1" dirty="0">
                <a:latin typeface="Arial"/>
                <a:cs typeface="Arial"/>
              </a:rPr>
              <a:t>.csv</a:t>
            </a:r>
          </a:p>
        </p:txBody>
      </p:sp>
      <p:sp>
        <p:nvSpPr>
          <p:cNvPr id="3" name="Titolo">
            <a:extLst>
              <a:ext uri="{FF2B5EF4-FFF2-40B4-BE49-F238E27FC236}">
                <a16:creationId xmlns:a16="http://schemas.microsoft.com/office/drawing/2014/main" id="{A3A7AA6C-0A8A-242E-84C6-0B7C194166B8}"/>
              </a:ext>
            </a:extLst>
          </p:cNvPr>
          <p:cNvSpPr txBox="1"/>
          <p:nvPr/>
        </p:nvSpPr>
        <p:spPr>
          <a:xfrm>
            <a:off x="584753" y="943452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Flusso del programma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S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901" name="RunTitle"/>
          <p:cNvSpPr txBox="1"/>
          <p:nvPr/>
        </p:nvSpPr>
        <p:spPr>
          <a:xfrm>
            <a:off x="6408873" y="51433"/>
            <a:ext cx="2284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Random Maze Solver</a:t>
            </a:r>
          </a:p>
        </p:txBody>
      </p:sp>
      <p:sp>
        <p:nvSpPr>
          <p:cNvPr id="902" name="RunDate"/>
          <p:cNvSpPr txBox="1"/>
          <p:nvPr/>
        </p:nvSpPr>
        <p:spPr>
          <a:xfrm>
            <a:off x="7638717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903" name="Rettangolo"/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4" name="Numero"/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5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20" name="Corpo"/>
          <p:cNvSpPr txBox="1"/>
          <p:nvPr/>
        </p:nvSpPr>
        <p:spPr>
          <a:xfrm>
            <a:off x="584753" y="1633062"/>
            <a:ext cx="7819027" cy="464073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Courier New"/>
                <a:cs typeface="Courier New"/>
              </a:rPr>
              <a:t>Point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Usata per salvare le </a:t>
            </a:r>
            <a:r>
              <a:rPr lang="it-IT" sz="1350" b="1" dirty="0">
                <a:latin typeface="Arial"/>
                <a:cs typeface="Arial"/>
              </a:rPr>
              <a:t>coordinate (x, y)</a:t>
            </a:r>
            <a:r>
              <a:rPr lang="it-IT" sz="1350" b="0" dirty="0">
                <a:latin typeface="Arial"/>
                <a:cs typeface="Arial"/>
              </a:rPr>
              <a:t> della particella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Courier New"/>
                <a:cs typeface="Courier New"/>
              </a:rPr>
              <a:t>Rect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Implementa un rettangolo geometrico, utile per identificare la </a:t>
            </a:r>
            <a:r>
              <a:rPr lang="it-IT" sz="1350" b="1" dirty="0">
                <a:latin typeface="Arial"/>
                <a:cs typeface="Arial"/>
              </a:rPr>
              <a:t>regione di arrivo </a:t>
            </a:r>
            <a:r>
              <a:rPr lang="it-IT" sz="1350" dirty="0">
                <a:latin typeface="Arial"/>
                <a:cs typeface="Arial"/>
              </a:rPr>
              <a:t>(uscita del labirinto)</a:t>
            </a:r>
            <a:r>
              <a:rPr lang="it-IT" sz="1350" b="0" dirty="0">
                <a:latin typeface="Arial"/>
                <a:cs typeface="Arial"/>
              </a:rPr>
              <a:t>; può verificare se un </a:t>
            </a:r>
            <a:r>
              <a:rPr lang="it-IT" sz="1350" b="1" i="1" dirty="0">
                <a:latin typeface="Arial"/>
                <a:cs typeface="Arial"/>
              </a:rPr>
              <a:t>Point</a:t>
            </a:r>
            <a:r>
              <a:rPr lang="it-IT" sz="1350" b="0" dirty="0">
                <a:latin typeface="Arial"/>
                <a:cs typeface="Arial"/>
              </a:rPr>
              <a:t> è al suo </a:t>
            </a:r>
            <a:r>
              <a:rPr lang="it-IT" sz="1350" b="1" dirty="0">
                <a:latin typeface="Arial"/>
                <a:cs typeface="Arial"/>
              </a:rPr>
              <a:t>interno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Courier New"/>
                <a:cs typeface="Courier New"/>
              </a:rPr>
              <a:t>Path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dirty="0">
                <a:latin typeface="Arial"/>
                <a:cs typeface="Arial"/>
              </a:rPr>
              <a:t>Rappresenta il </a:t>
            </a:r>
            <a:r>
              <a:rPr lang="it-IT" sz="1350" b="1" dirty="0">
                <a:latin typeface="Arial"/>
                <a:cs typeface="Arial"/>
              </a:rPr>
              <a:t>percorso di una particella </a:t>
            </a:r>
            <a:r>
              <a:rPr lang="it-IT" sz="1350" b="0" dirty="0">
                <a:latin typeface="Arial"/>
                <a:cs typeface="Arial"/>
              </a:rPr>
              <a:t>(vector di Point)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Courier New"/>
                <a:cs typeface="Courier New"/>
              </a:rPr>
              <a:t>StepGenerator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Implementa un </a:t>
            </a:r>
            <a:r>
              <a:rPr lang="it-IT" sz="1350" b="1" dirty="0">
                <a:latin typeface="Arial"/>
                <a:cs typeface="Arial"/>
              </a:rPr>
              <a:t>generatore casuale </a:t>
            </a:r>
            <a:r>
              <a:rPr lang="it-IT" sz="1350" b="0" dirty="0">
                <a:latin typeface="Arial"/>
                <a:cs typeface="Arial"/>
              </a:rPr>
              <a:t>(RNG) con distribuzione uniforme per gli </a:t>
            </a:r>
            <a:r>
              <a:rPr lang="it-IT" sz="1350" b="1" dirty="0">
                <a:latin typeface="Arial"/>
                <a:cs typeface="Arial"/>
              </a:rPr>
              <a:t>step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Courier New"/>
                <a:cs typeface="Courier New"/>
              </a:rPr>
              <a:t>Maze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1" dirty="0">
                <a:latin typeface="Arial"/>
                <a:cs typeface="Arial"/>
              </a:rPr>
              <a:t>Genera</a:t>
            </a:r>
            <a:r>
              <a:rPr lang="it-IT" sz="1350" b="0" dirty="0">
                <a:latin typeface="Arial"/>
                <a:cs typeface="Arial"/>
              </a:rPr>
              <a:t> il labirinto, </a:t>
            </a:r>
            <a:r>
              <a:rPr lang="it-IT" sz="1350" b="1" dirty="0">
                <a:latin typeface="Arial"/>
                <a:cs typeface="Arial"/>
              </a:rPr>
              <a:t>valida i movimenti </a:t>
            </a:r>
            <a:r>
              <a:rPr lang="it-IT" sz="1350" dirty="0">
                <a:latin typeface="Arial"/>
                <a:cs typeface="Arial"/>
              </a:rPr>
              <a:t>delle particelle considerando </a:t>
            </a:r>
            <a:r>
              <a:rPr lang="it-IT" sz="1350" b="0" dirty="0">
                <a:latin typeface="Arial"/>
                <a:cs typeface="Arial"/>
              </a:rPr>
              <a:t>i </a:t>
            </a:r>
            <a:r>
              <a:rPr lang="it-IT" sz="1350" b="1" dirty="0">
                <a:latin typeface="Arial"/>
                <a:cs typeface="Arial"/>
              </a:rPr>
              <a:t>rimbalzi sui muri</a:t>
            </a:r>
            <a:r>
              <a:rPr lang="it-IT" sz="1350" dirty="0">
                <a:latin typeface="Arial"/>
                <a:cs typeface="Arial"/>
              </a:rPr>
              <a:t>; contiene </a:t>
            </a:r>
            <a:r>
              <a:rPr lang="it-IT" sz="1350" b="0" dirty="0">
                <a:latin typeface="Arial"/>
                <a:cs typeface="Arial"/>
              </a:rPr>
              <a:t>ulteriori metodi per disegnare il labirinto con </a:t>
            </a:r>
            <a:r>
              <a:rPr lang="it-IT" sz="1350" b="0" i="1" dirty="0" err="1">
                <a:latin typeface="Arial"/>
                <a:cs typeface="Arial"/>
              </a:rPr>
              <a:t>OpenCV</a:t>
            </a:r>
            <a:endParaRPr lang="it-IT" sz="135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Courier New"/>
                <a:cs typeface="Courier New"/>
              </a:rPr>
              <a:t>MazeSolver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Implementa l’algoritmo di </a:t>
            </a:r>
            <a:r>
              <a:rPr lang="it-IT" sz="1350" b="1" dirty="0">
                <a:latin typeface="Arial"/>
                <a:cs typeface="Arial"/>
              </a:rPr>
              <a:t>creazione, gestione e avanzamento delle particelle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Distribuisce il lavoro sui </a:t>
            </a:r>
            <a:r>
              <a:rPr lang="it-IT" sz="1350" b="1" dirty="0" err="1">
                <a:latin typeface="Arial"/>
                <a:cs typeface="Arial"/>
              </a:rPr>
              <a:t>thread</a:t>
            </a:r>
            <a:endParaRPr lang="it-IT" sz="1350" b="1" dirty="0">
              <a:latin typeface="Arial"/>
              <a:cs typeface="Arial"/>
            </a:endParaRP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1" dirty="0">
                <a:latin typeface="Arial"/>
                <a:cs typeface="Arial"/>
              </a:rPr>
              <a:t>Misura</a:t>
            </a:r>
            <a:r>
              <a:rPr lang="it-IT" sz="1350" dirty="0">
                <a:latin typeface="Arial"/>
                <a:cs typeface="Arial"/>
              </a:rPr>
              <a:t> i tempi impiegati</a:t>
            </a:r>
            <a:endParaRPr lang="it-IT" sz="1350" b="0" dirty="0">
              <a:latin typeface="Arial"/>
              <a:cs typeface="Arial"/>
            </a:endParaRPr>
          </a:p>
        </p:txBody>
      </p:sp>
      <p:sp>
        <p:nvSpPr>
          <p:cNvPr id="3" name="Titolo">
            <a:extLst>
              <a:ext uri="{FF2B5EF4-FFF2-40B4-BE49-F238E27FC236}">
                <a16:creationId xmlns:a16="http://schemas.microsoft.com/office/drawing/2014/main" id="{C17C4C7C-FC4F-8EFE-8576-10020C52B6A9}"/>
              </a:ext>
            </a:extLst>
          </p:cNvPr>
          <p:cNvSpPr txBox="1"/>
          <p:nvPr/>
        </p:nvSpPr>
        <p:spPr>
          <a:xfrm>
            <a:off x="584753" y="943452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Implementazione: classi principali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S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901" name="RunTitle"/>
          <p:cNvSpPr txBox="1"/>
          <p:nvPr/>
        </p:nvSpPr>
        <p:spPr>
          <a:xfrm>
            <a:off x="6408873" y="51433"/>
            <a:ext cx="2284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Random Maze Solver</a:t>
            </a:r>
          </a:p>
        </p:txBody>
      </p:sp>
      <p:sp>
        <p:nvSpPr>
          <p:cNvPr id="902" name="RunDate"/>
          <p:cNvSpPr txBox="1"/>
          <p:nvPr/>
        </p:nvSpPr>
        <p:spPr>
          <a:xfrm>
            <a:off x="7638717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903" name="Rettangolo"/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4" name="Numero"/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6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20" name="Corpo"/>
          <p:cNvSpPr txBox="1"/>
          <p:nvPr/>
        </p:nvSpPr>
        <p:spPr>
          <a:xfrm>
            <a:off x="584753" y="1729643"/>
            <a:ext cx="4222197" cy="36099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Algoritmo: Recursive Backtracking (sequenziale)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Partendo dalla cella (0,0)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si visitano ricorsivamente le celle adiacenti non visitate, in ordine casuale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si rimuove il muro tra cella corrente e cella appena raggiunta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Un </a:t>
            </a:r>
            <a:r>
              <a:rPr lang="it-IT" sz="1500" b="1" dirty="0">
                <a:latin typeface="Arial"/>
                <a:cs typeface="Arial"/>
              </a:rPr>
              <a:t>unico percorso </a:t>
            </a:r>
            <a:r>
              <a:rPr lang="it-IT" sz="1500" b="0" dirty="0">
                <a:latin typeface="Arial"/>
                <a:cs typeface="Arial"/>
              </a:rPr>
              <a:t>possibile dall'ingresso all'uscita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Il labirinto viene </a:t>
            </a:r>
            <a:r>
              <a:rPr lang="it-IT" sz="1500" b="1" dirty="0">
                <a:latin typeface="Arial"/>
                <a:cs typeface="Arial"/>
              </a:rPr>
              <a:t>generato una sola volta </a:t>
            </a:r>
            <a:r>
              <a:rPr lang="it-IT" sz="1500" b="0" dirty="0">
                <a:latin typeface="Arial"/>
                <a:cs typeface="Arial"/>
              </a:rPr>
              <a:t>e salvato su file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1" dirty="0">
                <a:latin typeface="Arial"/>
                <a:cs typeface="Arial"/>
              </a:rPr>
              <a:t>stesso labirinto </a:t>
            </a:r>
            <a:r>
              <a:rPr lang="it-IT" sz="1350" b="0" dirty="0">
                <a:latin typeface="Arial"/>
                <a:cs typeface="Arial"/>
              </a:rPr>
              <a:t>ad ogni run → misure più confrontabili</a:t>
            </a:r>
          </a:p>
        </p:txBody>
      </p:sp>
      <p:sp>
        <p:nvSpPr>
          <p:cNvPr id="3" name="Titolo">
            <a:extLst>
              <a:ext uri="{FF2B5EF4-FFF2-40B4-BE49-F238E27FC236}">
                <a16:creationId xmlns:a16="http://schemas.microsoft.com/office/drawing/2014/main" id="{80B1A87D-4D2A-4BD1-B327-00315B818F38}"/>
              </a:ext>
            </a:extLst>
          </p:cNvPr>
          <p:cNvSpPr txBox="1"/>
          <p:nvPr/>
        </p:nvSpPr>
        <p:spPr>
          <a:xfrm>
            <a:off x="584753" y="943452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Generazione del labirinto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B4496C-3A6D-33AF-DF36-5D3ACF639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570" y="1729643"/>
            <a:ext cx="3744243" cy="2740757"/>
          </a:xfrm>
          <a:prstGeom prst="rect">
            <a:avLst/>
          </a:prstGeom>
        </p:spPr>
      </p:pic>
      <p:sp>
        <p:nvSpPr>
          <p:cNvPr id="4" name="Corpo">
            <a:extLst>
              <a:ext uri="{FF2B5EF4-FFF2-40B4-BE49-F238E27FC236}">
                <a16:creationId xmlns:a16="http://schemas.microsoft.com/office/drawing/2014/main" id="{2D439724-5795-0D83-22B1-410C4DF03824}"/>
              </a:ext>
            </a:extLst>
          </p:cNvPr>
          <p:cNvSpPr txBox="1"/>
          <p:nvPr/>
        </p:nvSpPr>
        <p:spPr>
          <a:xfrm>
            <a:off x="4949569" y="4496135"/>
            <a:ext cx="3744243" cy="501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it-IT" sz="1100" b="0" dirty="0">
                <a:latin typeface="Arial"/>
                <a:cs typeface="Arial"/>
              </a:rPr>
              <a:t>Esempio di labirinto </a:t>
            </a:r>
            <a:r>
              <a:rPr lang="it-IT" sz="1100" dirty="0">
                <a:latin typeface="Arial"/>
                <a:cs typeface="Arial"/>
              </a:rPr>
              <a:t>generato con </a:t>
            </a:r>
            <a:r>
              <a:rPr lang="it-IT" sz="1100" i="1" dirty="0">
                <a:latin typeface="Arial"/>
                <a:cs typeface="Arial"/>
              </a:rPr>
              <a:t>Recursive Backtracking</a:t>
            </a:r>
            <a:endParaRPr lang="it-IT" sz="1050" b="0" i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S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901" name="RunTitle"/>
          <p:cNvSpPr txBox="1"/>
          <p:nvPr/>
        </p:nvSpPr>
        <p:spPr>
          <a:xfrm>
            <a:off x="6408873" y="51433"/>
            <a:ext cx="2284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Random Maze Solver</a:t>
            </a:r>
          </a:p>
        </p:txBody>
      </p:sp>
      <p:sp>
        <p:nvSpPr>
          <p:cNvPr id="902" name="RunDate"/>
          <p:cNvSpPr txBox="1"/>
          <p:nvPr/>
        </p:nvSpPr>
        <p:spPr>
          <a:xfrm>
            <a:off x="7609863" y="403482"/>
            <a:ext cx="10839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903" name="Rettangolo"/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4" name="Numero"/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7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20" name="Corpo"/>
          <p:cNvSpPr txBox="1"/>
          <p:nvPr/>
        </p:nvSpPr>
        <p:spPr>
          <a:xfrm>
            <a:off x="584753" y="1731298"/>
            <a:ext cx="7819027" cy="36099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Ogni </a:t>
            </a:r>
            <a:r>
              <a:rPr lang="it-IT" sz="1500" b="1" dirty="0">
                <a:latin typeface="Arial"/>
                <a:cs typeface="Arial"/>
              </a:rPr>
              <a:t>particella è indipendente </a:t>
            </a:r>
            <a:r>
              <a:rPr lang="it-IT" sz="1500" b="0" dirty="0">
                <a:latin typeface="Arial"/>
                <a:cs typeface="Arial"/>
              </a:rPr>
              <a:t>dalle altre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particelle indipendenti → </a:t>
            </a:r>
            <a:r>
              <a:rPr lang="it-IT" sz="1350" b="1" dirty="0">
                <a:latin typeface="Arial"/>
                <a:cs typeface="Arial"/>
              </a:rPr>
              <a:t>parallelizzabili</a:t>
            </a:r>
            <a:r>
              <a:rPr lang="it-IT" sz="1350" b="0" dirty="0">
                <a:latin typeface="Arial"/>
                <a:cs typeface="Arial"/>
              </a:rPr>
              <a:t> facilmente con </a:t>
            </a:r>
            <a:r>
              <a:rPr lang="it-IT" sz="1350" b="1" dirty="0">
                <a:latin typeface="Arial"/>
                <a:cs typeface="Arial"/>
              </a:rPr>
              <a:t>OpenMP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Ogni </a:t>
            </a:r>
            <a:r>
              <a:rPr lang="it-IT" sz="1500" b="0" dirty="0" err="1">
                <a:latin typeface="Arial"/>
                <a:cs typeface="Arial"/>
              </a:rPr>
              <a:t>thread</a:t>
            </a:r>
            <a:r>
              <a:rPr lang="it-IT" sz="1500" b="0" dirty="0">
                <a:latin typeface="Arial"/>
                <a:cs typeface="Arial"/>
              </a:rPr>
              <a:t> avanza di uno step per volta un certo numero di particelle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Labirinto in </a:t>
            </a:r>
            <a:r>
              <a:rPr lang="it-IT" sz="1350" b="1" dirty="0">
                <a:latin typeface="Arial"/>
                <a:cs typeface="Arial"/>
              </a:rPr>
              <a:t>sola lettura </a:t>
            </a:r>
            <a:r>
              <a:rPr lang="it-IT" sz="1350" b="0" dirty="0">
                <a:latin typeface="Arial"/>
                <a:cs typeface="Arial"/>
              </a:rPr>
              <a:t>→ </a:t>
            </a:r>
            <a:r>
              <a:rPr lang="it-IT" sz="1350" b="1" dirty="0">
                <a:latin typeface="Arial"/>
                <a:cs typeface="Arial"/>
              </a:rPr>
              <a:t>nessuna sincronizzazione </a:t>
            </a:r>
            <a:r>
              <a:rPr lang="it-IT" sz="1350" b="0" dirty="0">
                <a:latin typeface="Arial"/>
                <a:cs typeface="Arial"/>
              </a:rPr>
              <a:t>necessaria </a:t>
            </a:r>
            <a:r>
              <a:rPr lang="it-IT" sz="1350" b="1" dirty="0">
                <a:latin typeface="Arial"/>
                <a:cs typeface="Arial"/>
              </a:rPr>
              <a:t>sui dati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Ogni particella scrive solo sul proprio percorso → </a:t>
            </a:r>
            <a:r>
              <a:rPr lang="it-IT" sz="1350" b="1" dirty="0">
                <a:latin typeface="Arial"/>
                <a:cs typeface="Arial"/>
              </a:rPr>
              <a:t>nessuna race condition </a:t>
            </a:r>
            <a:r>
              <a:rPr lang="it-IT" sz="1350" b="0" dirty="0">
                <a:latin typeface="Arial"/>
                <a:cs typeface="Arial"/>
              </a:rPr>
              <a:t>in scrittura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Unica </a:t>
            </a:r>
            <a:r>
              <a:rPr lang="it-IT" sz="1500" b="1" dirty="0">
                <a:latin typeface="Arial"/>
                <a:cs typeface="Arial"/>
              </a:rPr>
              <a:t>sincronizzazione</a:t>
            </a:r>
            <a:r>
              <a:rPr lang="it-IT" sz="1500" b="0" dirty="0">
                <a:latin typeface="Arial"/>
                <a:cs typeface="Arial"/>
              </a:rPr>
              <a:t> richiesta: la </a:t>
            </a:r>
            <a:r>
              <a:rPr lang="it-IT" sz="1500" b="1" dirty="0">
                <a:latin typeface="Arial"/>
                <a:cs typeface="Arial"/>
              </a:rPr>
              <a:t>prima</a:t>
            </a:r>
            <a:r>
              <a:rPr lang="it-IT" sz="1500" b="0" dirty="0">
                <a:latin typeface="Arial"/>
                <a:cs typeface="Arial"/>
              </a:rPr>
              <a:t> </a:t>
            </a:r>
            <a:r>
              <a:rPr lang="it-IT" sz="1500" b="1" dirty="0">
                <a:latin typeface="Arial"/>
                <a:cs typeface="Arial"/>
              </a:rPr>
              <a:t>particella</a:t>
            </a:r>
            <a:r>
              <a:rPr lang="it-IT" sz="1500" b="0" dirty="0">
                <a:latin typeface="Arial"/>
                <a:cs typeface="Arial"/>
              </a:rPr>
              <a:t> che arriva all’</a:t>
            </a:r>
            <a:r>
              <a:rPr lang="it-IT" sz="1500" b="1" dirty="0">
                <a:latin typeface="Arial"/>
                <a:cs typeface="Arial"/>
              </a:rPr>
              <a:t>uscita</a:t>
            </a:r>
            <a:r>
              <a:rPr lang="it-IT" sz="1500" b="0" dirty="0">
                <a:latin typeface="Arial"/>
                <a:cs typeface="Arial"/>
              </a:rPr>
              <a:t> deve </a:t>
            </a:r>
            <a:r>
              <a:rPr lang="it-IT" sz="1500" b="1" dirty="0">
                <a:latin typeface="Arial"/>
                <a:cs typeface="Arial"/>
              </a:rPr>
              <a:t>fermare tutte le altre</a:t>
            </a:r>
          </a:p>
        </p:txBody>
      </p:sp>
      <p:sp>
        <p:nvSpPr>
          <p:cNvPr id="3" name="Titolo">
            <a:extLst>
              <a:ext uri="{FF2B5EF4-FFF2-40B4-BE49-F238E27FC236}">
                <a16:creationId xmlns:a16="http://schemas.microsoft.com/office/drawing/2014/main" id="{CC87B43E-B009-3722-3FED-FFD7DD0AE176}"/>
              </a:ext>
            </a:extLst>
          </p:cNvPr>
          <p:cNvSpPr txBox="1"/>
          <p:nvPr/>
        </p:nvSpPr>
        <p:spPr>
          <a:xfrm>
            <a:off x="584753" y="943452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Parallelizzazione </a:t>
            </a:r>
            <a:r>
              <a:rPr lang="it-IT" sz="2600" b="1" dirty="0" err="1">
                <a:solidFill>
                  <a:srgbClr val="003053"/>
                </a:solidFill>
                <a:latin typeface="Arial"/>
                <a:cs typeface="Arial"/>
              </a:rPr>
              <a:t>OpenMP</a:t>
            </a:r>
            <a:endParaRPr lang="it-IT" sz="2600" b="1" dirty="0">
              <a:solidFill>
                <a:srgbClr val="003053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S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901" name="RunTitle"/>
          <p:cNvSpPr txBox="1"/>
          <p:nvPr/>
        </p:nvSpPr>
        <p:spPr>
          <a:xfrm>
            <a:off x="6408873" y="51433"/>
            <a:ext cx="2284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Random Maze Solver</a:t>
            </a:r>
          </a:p>
        </p:txBody>
      </p:sp>
      <p:sp>
        <p:nvSpPr>
          <p:cNvPr id="902" name="RunDate"/>
          <p:cNvSpPr txBox="1"/>
          <p:nvPr/>
        </p:nvSpPr>
        <p:spPr>
          <a:xfrm>
            <a:off x="7638717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903" name="Rettangolo"/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4" name="Numero"/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8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20" name="Corpo"/>
          <p:cNvSpPr txBox="1"/>
          <p:nvPr/>
        </p:nvSpPr>
        <p:spPr>
          <a:xfrm>
            <a:off x="584753" y="1733426"/>
            <a:ext cx="7819027" cy="36099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None/>
            </a:pPr>
            <a:r>
              <a:rPr lang="it-IT" sz="1400" b="1" dirty="0">
                <a:solidFill>
                  <a:srgbClr val="003053"/>
                </a:solidFill>
                <a:latin typeface="Courier New"/>
                <a:cs typeface="Courier New"/>
              </a:rPr>
              <a:t>#pragma omp parallel for num_threads(n)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Annota il ciclo esterno sugli “agenti”: un </a:t>
            </a:r>
            <a:r>
              <a:rPr lang="it-IT" sz="1500" b="1" dirty="0" err="1">
                <a:latin typeface="Arial"/>
                <a:cs typeface="Arial"/>
              </a:rPr>
              <a:t>thread</a:t>
            </a:r>
            <a:r>
              <a:rPr lang="it-IT" sz="1500" b="1" dirty="0">
                <a:latin typeface="Arial"/>
                <a:cs typeface="Arial"/>
              </a:rPr>
              <a:t> per agente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Unica </a:t>
            </a:r>
            <a:r>
              <a:rPr lang="it-IT" sz="1500" b="1" dirty="0">
                <a:latin typeface="Arial"/>
                <a:cs typeface="Arial"/>
              </a:rPr>
              <a:t>variabile condivisa </a:t>
            </a:r>
            <a:r>
              <a:rPr lang="it-IT" sz="1500" b="0" dirty="0">
                <a:latin typeface="Arial"/>
                <a:cs typeface="Arial"/>
              </a:rPr>
              <a:t>in scrittura: </a:t>
            </a:r>
            <a:r>
              <a:rPr lang="it-IT" sz="1500" b="1" i="1" dirty="0">
                <a:latin typeface="Arial"/>
                <a:cs typeface="Arial"/>
              </a:rPr>
              <a:t>running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dirty="0">
                <a:latin typeface="Arial"/>
                <a:cs typeface="Arial"/>
              </a:rPr>
              <a:t>implementata come </a:t>
            </a:r>
            <a:r>
              <a:rPr lang="it-IT" sz="1350" b="1" dirty="0">
                <a:latin typeface="Arial"/>
                <a:cs typeface="Arial"/>
              </a:rPr>
              <a:t>variabile booleana atomica </a:t>
            </a:r>
            <a:r>
              <a:rPr lang="it-IT" sz="1350" dirty="0">
                <a:latin typeface="Arial"/>
                <a:cs typeface="Arial"/>
              </a:rPr>
              <a:t>(</a:t>
            </a:r>
            <a:r>
              <a:rPr lang="it-IT" sz="1350" i="1" dirty="0" err="1">
                <a:latin typeface="Arial"/>
                <a:cs typeface="Arial"/>
              </a:rPr>
              <a:t>std</a:t>
            </a:r>
            <a:r>
              <a:rPr lang="it-IT" sz="1350" i="1" dirty="0">
                <a:latin typeface="Arial"/>
                <a:cs typeface="Arial"/>
              </a:rPr>
              <a:t>::</a:t>
            </a:r>
            <a:r>
              <a:rPr lang="it-IT" sz="1350" i="1" dirty="0" err="1">
                <a:latin typeface="Arial"/>
                <a:cs typeface="Arial"/>
              </a:rPr>
              <a:t>atomic</a:t>
            </a:r>
            <a:r>
              <a:rPr lang="it-IT" sz="1350" dirty="0">
                <a:latin typeface="Arial"/>
                <a:cs typeface="Arial"/>
              </a:rPr>
              <a:t>)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particella arriva all'uscita → </a:t>
            </a:r>
            <a:r>
              <a:rPr lang="it-IT" sz="1350" b="1" dirty="0">
                <a:latin typeface="Arial"/>
                <a:cs typeface="Arial"/>
              </a:rPr>
              <a:t>imposta a false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tutti gli altri thread </a:t>
            </a:r>
            <a:r>
              <a:rPr lang="it-IT" sz="1350" b="1" dirty="0">
                <a:latin typeface="Arial"/>
                <a:cs typeface="Arial"/>
              </a:rPr>
              <a:t>controllano running ad ogni iterazione </a:t>
            </a:r>
            <a:r>
              <a:rPr lang="it-IT" sz="1350" b="0" dirty="0">
                <a:latin typeface="Arial"/>
                <a:cs typeface="Arial"/>
              </a:rPr>
              <a:t>→ si fermano se falsa</a:t>
            </a:r>
          </a:p>
        </p:txBody>
      </p:sp>
      <p:sp>
        <p:nvSpPr>
          <p:cNvPr id="3" name="Titolo">
            <a:extLst>
              <a:ext uri="{FF2B5EF4-FFF2-40B4-BE49-F238E27FC236}">
                <a16:creationId xmlns:a16="http://schemas.microsoft.com/office/drawing/2014/main" id="{28C5403F-86C1-97C4-95AF-D9398E4CCC07}"/>
              </a:ext>
            </a:extLst>
          </p:cNvPr>
          <p:cNvSpPr txBox="1"/>
          <p:nvPr/>
        </p:nvSpPr>
        <p:spPr>
          <a:xfrm>
            <a:off x="584753" y="943452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Sincronizzazione tra i </a:t>
            </a:r>
            <a:r>
              <a:rPr lang="it-IT" sz="2600" b="1" dirty="0" err="1">
                <a:solidFill>
                  <a:srgbClr val="003053"/>
                </a:solidFill>
                <a:latin typeface="Arial"/>
                <a:cs typeface="Arial"/>
              </a:rPr>
              <a:t>thread</a:t>
            </a:r>
            <a:endParaRPr lang="it-IT" sz="2600" b="1" dirty="0">
              <a:solidFill>
                <a:srgbClr val="003053"/>
              </a:solidFill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E03263-70C3-90D5-BC69-2306459DD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198" y="3580739"/>
            <a:ext cx="6271183" cy="2622745"/>
          </a:xfrm>
          <a:prstGeom prst="rect">
            <a:avLst/>
          </a:prstGeom>
        </p:spPr>
      </p:pic>
      <p:sp>
        <p:nvSpPr>
          <p:cNvPr id="4" name="Corpo">
            <a:extLst>
              <a:ext uri="{FF2B5EF4-FFF2-40B4-BE49-F238E27FC236}">
                <a16:creationId xmlns:a16="http://schemas.microsoft.com/office/drawing/2014/main" id="{E51C2B76-5DD2-E04E-3B9B-BF0EE3575FDE}"/>
              </a:ext>
            </a:extLst>
          </p:cNvPr>
          <p:cNvSpPr txBox="1"/>
          <p:nvPr/>
        </p:nvSpPr>
        <p:spPr>
          <a:xfrm>
            <a:off x="2124198" y="6216199"/>
            <a:ext cx="6279582" cy="2383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it-IT" sz="1100" b="0" dirty="0" err="1">
                <a:latin typeface="Arial"/>
                <a:cs typeface="Arial"/>
              </a:rPr>
              <a:t>Snippet</a:t>
            </a:r>
            <a:r>
              <a:rPr lang="it-IT" sz="1100" b="0" dirty="0">
                <a:latin typeface="Arial"/>
                <a:cs typeface="Arial"/>
              </a:rPr>
              <a:t> semplificato del codice di avanzamento delle particelle</a:t>
            </a:r>
            <a:endParaRPr lang="it-IT" sz="1050" b="0" i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3DF73-7976-49CF-C4A2-D0F58246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Sfondo">
            <a:extLst>
              <a:ext uri="{FF2B5EF4-FFF2-40B4-BE49-F238E27FC236}">
                <a16:creationId xmlns:a16="http://schemas.microsoft.com/office/drawing/2014/main" id="{1002869B-3324-56AE-60B3-BCBABC6D1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901" name="RunTitle">
            <a:extLst>
              <a:ext uri="{FF2B5EF4-FFF2-40B4-BE49-F238E27FC236}">
                <a16:creationId xmlns:a16="http://schemas.microsoft.com/office/drawing/2014/main" id="{75798CBC-586F-D2C3-78CA-8085DA00F83B}"/>
              </a:ext>
            </a:extLst>
          </p:cNvPr>
          <p:cNvSpPr txBox="1"/>
          <p:nvPr/>
        </p:nvSpPr>
        <p:spPr>
          <a:xfrm>
            <a:off x="6408873" y="51433"/>
            <a:ext cx="2284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Random Maze Solver</a:t>
            </a:r>
          </a:p>
        </p:txBody>
      </p:sp>
      <p:sp>
        <p:nvSpPr>
          <p:cNvPr id="902" name="RunDate">
            <a:extLst>
              <a:ext uri="{FF2B5EF4-FFF2-40B4-BE49-F238E27FC236}">
                <a16:creationId xmlns:a16="http://schemas.microsoft.com/office/drawing/2014/main" id="{769CB1EA-3F05-F03E-DA03-D0ECDA6A9056}"/>
              </a:ext>
            </a:extLst>
          </p:cNvPr>
          <p:cNvSpPr txBox="1"/>
          <p:nvPr/>
        </p:nvSpPr>
        <p:spPr>
          <a:xfrm>
            <a:off x="7638716" y="403482"/>
            <a:ext cx="10550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903" name="Rettangolo">
            <a:extLst>
              <a:ext uri="{FF2B5EF4-FFF2-40B4-BE49-F238E27FC236}">
                <a16:creationId xmlns:a16="http://schemas.microsoft.com/office/drawing/2014/main" id="{C6915EDC-1C9C-0886-7526-8AB5B7054E36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4" name="Numero">
            <a:extLst>
              <a:ext uri="{FF2B5EF4-FFF2-40B4-BE49-F238E27FC236}">
                <a16:creationId xmlns:a16="http://schemas.microsoft.com/office/drawing/2014/main" id="{ABB951FE-84BA-E5FF-9AB6-0CC19368C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9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20" name="Corpo">
            <a:extLst>
              <a:ext uri="{FF2B5EF4-FFF2-40B4-BE49-F238E27FC236}">
                <a16:creationId xmlns:a16="http://schemas.microsoft.com/office/drawing/2014/main" id="{2B0B4B2B-FB83-7C75-F7D4-140D36BC8551}"/>
              </a:ext>
            </a:extLst>
          </p:cNvPr>
          <p:cNvSpPr txBox="1"/>
          <p:nvPr/>
        </p:nvSpPr>
        <p:spPr>
          <a:xfrm>
            <a:off x="584753" y="1725648"/>
            <a:ext cx="7819027" cy="36099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Il moto delle particelle è </a:t>
            </a:r>
            <a:r>
              <a:rPr lang="it-IT" sz="1500" b="1" dirty="0">
                <a:latin typeface="Arial"/>
                <a:cs typeface="Arial"/>
              </a:rPr>
              <a:t>casuale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stessa configurazione (</a:t>
            </a:r>
            <a:r>
              <a:rPr lang="it-IT" sz="1350" i="1" dirty="0">
                <a:latin typeface="Arial"/>
                <a:cs typeface="Arial"/>
              </a:rPr>
              <a:t>p, n</a:t>
            </a:r>
            <a:r>
              <a:rPr lang="it-IT" sz="1350" b="0" dirty="0">
                <a:latin typeface="Arial"/>
                <a:cs typeface="Arial"/>
              </a:rPr>
              <a:t>) → </a:t>
            </a:r>
            <a:r>
              <a:rPr lang="it-IT" sz="1350" b="1" dirty="0">
                <a:latin typeface="Arial"/>
                <a:cs typeface="Arial"/>
              </a:rPr>
              <a:t>risultati incoerenti </a:t>
            </a:r>
            <a:r>
              <a:rPr lang="it-IT" sz="1350" b="0" dirty="0">
                <a:latin typeface="Arial"/>
                <a:cs typeface="Arial"/>
              </a:rPr>
              <a:t>tra loro</a:t>
            </a:r>
          </a:p>
          <a:p>
            <a:pPr marL="685800" lvl="1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Tentativo 1</a:t>
            </a:r>
            <a:r>
              <a:rPr lang="it-IT" sz="1500" b="0" dirty="0">
                <a:latin typeface="Arial"/>
                <a:cs typeface="Arial"/>
              </a:rPr>
              <a:t>: fissare un </a:t>
            </a:r>
            <a:r>
              <a:rPr lang="it-IT" sz="1500" b="1" dirty="0" err="1">
                <a:latin typeface="Arial"/>
                <a:cs typeface="Arial"/>
              </a:rPr>
              <a:t>seed</a:t>
            </a:r>
            <a:r>
              <a:rPr lang="it-IT" sz="1500" b="0" dirty="0">
                <a:latin typeface="Arial"/>
                <a:cs typeface="Arial"/>
              </a:rPr>
              <a:t> per gli </a:t>
            </a:r>
            <a:r>
              <a:rPr lang="it-IT" sz="1500" b="0" i="1" dirty="0">
                <a:latin typeface="Arial"/>
                <a:cs typeface="Arial"/>
              </a:rPr>
              <a:t>RNG</a:t>
            </a:r>
            <a:r>
              <a:rPr lang="it-IT" sz="1500" b="0" dirty="0">
                <a:latin typeface="Arial"/>
                <a:cs typeface="Arial"/>
              </a:rPr>
              <a:t> (</a:t>
            </a:r>
            <a:r>
              <a:rPr lang="it-IT" sz="1500" b="0" i="1" dirty="0" err="1">
                <a:latin typeface="Arial"/>
                <a:cs typeface="Arial"/>
              </a:rPr>
              <a:t>StepGenerator</a:t>
            </a:r>
            <a:r>
              <a:rPr lang="it-IT" sz="1500" b="0" dirty="0">
                <a:latin typeface="Arial"/>
                <a:cs typeface="Arial"/>
              </a:rPr>
              <a:t>) → elimina la componente </a:t>
            </a:r>
            <a:r>
              <a:rPr lang="it-IT" sz="1500" dirty="0">
                <a:latin typeface="Arial"/>
                <a:cs typeface="Arial"/>
              </a:rPr>
              <a:t>randomica →</a:t>
            </a:r>
            <a:r>
              <a:rPr lang="it-IT" sz="1500" b="0" dirty="0">
                <a:latin typeface="Arial"/>
                <a:cs typeface="Arial"/>
              </a:rPr>
              <a:t> </a:t>
            </a:r>
            <a:r>
              <a:rPr lang="it-IT" sz="1500" b="1" dirty="0">
                <a:latin typeface="Arial"/>
                <a:cs typeface="Arial"/>
              </a:rPr>
              <a:t>snatura il problema </a:t>
            </a:r>
            <a:r>
              <a:rPr lang="it-IT" sz="1600" dirty="0">
                <a:latin typeface="Arial"/>
                <a:cs typeface="Arial"/>
              </a:rPr>
              <a:t>→ scartato</a:t>
            </a:r>
            <a:endParaRPr lang="it-IT" sz="1500" b="0" dirty="0">
              <a:latin typeface="Arial"/>
              <a:cs typeface="Arial"/>
            </a:endParaRPr>
          </a:p>
          <a:p>
            <a:pPr marL="685800" lvl="1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Tentativo 2</a:t>
            </a:r>
            <a:r>
              <a:rPr lang="it-IT" sz="1500" b="0" dirty="0">
                <a:latin typeface="Arial"/>
                <a:cs typeface="Arial"/>
              </a:rPr>
              <a:t>: </a:t>
            </a:r>
            <a:r>
              <a:rPr lang="it-IT" sz="1500" b="1" dirty="0">
                <a:latin typeface="Arial"/>
                <a:cs typeface="Arial"/>
              </a:rPr>
              <a:t>ripetere le misurazioni </a:t>
            </a:r>
            <a:r>
              <a:rPr lang="it-IT" sz="1500" b="0" dirty="0">
                <a:latin typeface="Arial"/>
                <a:cs typeface="Arial"/>
              </a:rPr>
              <a:t>più volte</a:t>
            </a:r>
          </a:p>
          <a:p>
            <a:pPr marL="685800" lvl="1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Tentativo 3</a:t>
            </a:r>
            <a:r>
              <a:rPr lang="it-IT" sz="1500" b="0" dirty="0">
                <a:latin typeface="Arial"/>
                <a:cs typeface="Arial"/>
              </a:rPr>
              <a:t>: utilizzo della </a:t>
            </a:r>
            <a:r>
              <a:rPr lang="it-IT" sz="1500" b="1" dirty="0">
                <a:latin typeface="Arial"/>
                <a:cs typeface="Arial"/>
              </a:rPr>
              <a:t>mediana</a:t>
            </a:r>
            <a:r>
              <a:rPr lang="it-IT" sz="1500" b="0" dirty="0">
                <a:latin typeface="Arial"/>
                <a:cs typeface="Arial"/>
              </a:rPr>
              <a:t> → più </a:t>
            </a:r>
            <a:r>
              <a:rPr lang="it-IT" sz="1500" b="1" dirty="0">
                <a:latin typeface="Arial"/>
                <a:cs typeface="Arial"/>
              </a:rPr>
              <a:t>robusta</a:t>
            </a:r>
            <a:r>
              <a:rPr lang="it-IT" sz="1500" b="0" dirty="0">
                <a:latin typeface="Arial"/>
                <a:cs typeface="Arial"/>
              </a:rPr>
              <a:t> della media </a:t>
            </a:r>
            <a:r>
              <a:rPr lang="it-IT" sz="1500" b="1" dirty="0">
                <a:latin typeface="Arial"/>
                <a:cs typeface="Arial"/>
              </a:rPr>
              <a:t>rispetto agli </a:t>
            </a:r>
            <a:r>
              <a:rPr lang="it-IT" sz="1500" b="1" dirty="0" err="1">
                <a:latin typeface="Arial"/>
                <a:cs typeface="Arial"/>
              </a:rPr>
              <a:t>outlier</a:t>
            </a:r>
            <a:endParaRPr lang="it-IT" sz="1500" b="1" dirty="0">
              <a:latin typeface="Arial"/>
              <a:cs typeface="Arial"/>
            </a:endParaRPr>
          </a:p>
        </p:txBody>
      </p:sp>
      <p:sp>
        <p:nvSpPr>
          <p:cNvPr id="3" name="Titolo">
            <a:extLst>
              <a:ext uri="{FF2B5EF4-FFF2-40B4-BE49-F238E27FC236}">
                <a16:creationId xmlns:a16="http://schemas.microsoft.com/office/drawing/2014/main" id="{848BBB0D-6875-CCCC-C503-A2C9F1205191}"/>
              </a:ext>
            </a:extLst>
          </p:cNvPr>
          <p:cNvSpPr txBox="1"/>
          <p:nvPr/>
        </p:nvSpPr>
        <p:spPr>
          <a:xfrm>
            <a:off x="584753" y="943452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Valutazione prestazioni: Difficoltà riscontrate</a:t>
            </a:r>
          </a:p>
        </p:txBody>
      </p:sp>
    </p:spTree>
    <p:extLst>
      <p:ext uri="{BB962C8B-B14F-4D97-AF65-F5344CB8AC3E}">
        <p14:creationId xmlns:p14="http://schemas.microsoft.com/office/powerpoint/2010/main" val="2232755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S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901" name="RunTitle"/>
          <p:cNvSpPr txBox="1"/>
          <p:nvPr/>
        </p:nvSpPr>
        <p:spPr>
          <a:xfrm>
            <a:off x="6408873" y="51433"/>
            <a:ext cx="2284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Random Maze Solver</a:t>
            </a:r>
          </a:p>
        </p:txBody>
      </p:sp>
      <p:sp>
        <p:nvSpPr>
          <p:cNvPr id="902" name="RunDate"/>
          <p:cNvSpPr txBox="1"/>
          <p:nvPr/>
        </p:nvSpPr>
        <p:spPr>
          <a:xfrm>
            <a:off x="7609863" y="403482"/>
            <a:ext cx="10839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903" name="Rettangolo"/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4" name="Numero"/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10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10" name="Titolo"/>
          <p:cNvSpPr txBox="1"/>
          <p:nvPr/>
        </p:nvSpPr>
        <p:spPr>
          <a:xfrm>
            <a:off x="648253" y="1305402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it-IT" sz="2600" b="1" dirty="0">
              <a:solidFill>
                <a:srgbClr val="003053"/>
              </a:solidFill>
              <a:latin typeface="Arial"/>
              <a:cs typeface="Arial"/>
            </a:endParaRPr>
          </a:p>
        </p:txBody>
      </p:sp>
      <p:sp>
        <p:nvSpPr>
          <p:cNvPr id="920" name="Corpo"/>
          <p:cNvSpPr txBox="1"/>
          <p:nvPr/>
        </p:nvSpPr>
        <p:spPr>
          <a:xfrm>
            <a:off x="584753" y="1767067"/>
            <a:ext cx="7882527" cy="36099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it-IT" sz="1500" b="0" dirty="0">
                <a:latin typeface="Arial"/>
                <a:cs typeface="Arial"/>
              </a:rPr>
              <a:t>Il carico di lavoro non è una sola variabile, ma due: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Numero di particelle per thread (</a:t>
            </a:r>
            <a:r>
              <a:rPr lang="it-IT" sz="1500" b="1" i="1" dirty="0">
                <a:latin typeface="Arial"/>
                <a:cs typeface="Arial"/>
              </a:rPr>
              <a:t>p</a:t>
            </a:r>
            <a:r>
              <a:rPr lang="it-IT" sz="1500" b="1" dirty="0">
                <a:latin typeface="Arial"/>
                <a:cs typeface="Arial"/>
              </a:rPr>
              <a:t>)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1" i="1" dirty="0">
                <a:latin typeface="Arial"/>
                <a:cs typeface="Arial"/>
              </a:rPr>
              <a:t>p</a:t>
            </a:r>
            <a:r>
              <a:rPr lang="it-IT" sz="1350" b="0" dirty="0">
                <a:latin typeface="Arial"/>
                <a:cs typeface="Arial"/>
              </a:rPr>
              <a:t> </a:t>
            </a:r>
            <a:r>
              <a:rPr lang="it-IT" sz="1350" b="1" dirty="0">
                <a:latin typeface="Arial"/>
                <a:cs typeface="Arial"/>
              </a:rPr>
              <a:t>aumenta</a:t>
            </a:r>
            <a:r>
              <a:rPr lang="it-IT" sz="1350" b="0" dirty="0">
                <a:latin typeface="Arial"/>
                <a:cs typeface="Arial"/>
              </a:rPr>
              <a:t> → più tentativi indipendenti → </a:t>
            </a:r>
            <a:r>
              <a:rPr lang="it-IT" sz="1350" b="1" dirty="0">
                <a:latin typeface="Arial"/>
                <a:cs typeface="Arial"/>
              </a:rPr>
              <a:t>più probabilità di un percorso migliore </a:t>
            </a:r>
            <a:r>
              <a:rPr lang="it-IT" sz="1350" b="0" dirty="0">
                <a:latin typeface="Arial"/>
                <a:cs typeface="Arial"/>
              </a:rPr>
              <a:t>→ </a:t>
            </a:r>
            <a:r>
              <a:rPr lang="it-IT" sz="1350" b="1" dirty="0">
                <a:latin typeface="Arial"/>
                <a:cs typeface="Arial"/>
              </a:rPr>
              <a:t>tempo diminuisce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Numero di thread (</a:t>
            </a:r>
            <a:r>
              <a:rPr lang="it-IT" sz="1500" b="1" i="1" dirty="0">
                <a:latin typeface="Arial"/>
                <a:cs typeface="Arial"/>
              </a:rPr>
              <a:t>n</a:t>
            </a:r>
            <a:r>
              <a:rPr lang="it-IT" sz="1500" b="1" dirty="0">
                <a:latin typeface="Arial"/>
                <a:cs typeface="Arial"/>
              </a:rPr>
              <a:t>)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1" i="1" dirty="0">
                <a:latin typeface="Arial"/>
                <a:cs typeface="Arial"/>
              </a:rPr>
              <a:t>n</a:t>
            </a:r>
            <a:r>
              <a:rPr lang="it-IT" sz="1350" b="0" dirty="0">
                <a:latin typeface="Arial"/>
                <a:cs typeface="Arial"/>
              </a:rPr>
              <a:t> </a:t>
            </a:r>
            <a:r>
              <a:rPr lang="it-IT" sz="1350" b="1" dirty="0">
                <a:latin typeface="Arial"/>
                <a:cs typeface="Arial"/>
              </a:rPr>
              <a:t>aumenta</a:t>
            </a:r>
            <a:r>
              <a:rPr lang="it-IT" sz="1350" b="0" dirty="0">
                <a:latin typeface="Arial"/>
                <a:cs typeface="Arial"/>
              </a:rPr>
              <a:t> → più parallelismo → più agenti (e particelle) cercano l’uscita contemporaneamente → </a:t>
            </a:r>
            <a:r>
              <a:rPr lang="it-IT" sz="1350" b="1" dirty="0">
                <a:latin typeface="Arial"/>
                <a:cs typeface="Arial"/>
              </a:rPr>
              <a:t>tempo diminuisce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endParaRPr lang="it-IT" sz="135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Totale particelle lanciate </a:t>
            </a:r>
            <a:r>
              <a:rPr lang="it-IT" sz="1500" b="1" i="1" dirty="0" err="1">
                <a:latin typeface="Arial"/>
                <a:cs typeface="Arial"/>
              </a:rPr>
              <a:t>P</a:t>
            </a:r>
            <a:r>
              <a:rPr lang="it-IT" sz="1000" b="1" i="1" dirty="0" err="1">
                <a:latin typeface="Arial"/>
                <a:cs typeface="Arial"/>
              </a:rPr>
              <a:t>tot</a:t>
            </a:r>
            <a:r>
              <a:rPr lang="it-IT" sz="1500" b="1" i="1" dirty="0">
                <a:latin typeface="Arial"/>
                <a:cs typeface="Arial"/>
              </a:rPr>
              <a:t> = p × n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600" dirty="0">
                <a:latin typeface="Arial"/>
                <a:cs typeface="Arial"/>
              </a:rPr>
              <a:t>CPU utilizzata: </a:t>
            </a:r>
            <a:r>
              <a:rPr lang="it-IT" sz="1600" i="1" dirty="0">
                <a:latin typeface="Arial"/>
                <a:cs typeface="Arial"/>
              </a:rPr>
              <a:t>AMD Ryzen 7 3700X </a:t>
            </a:r>
            <a:r>
              <a:rPr lang="it-IT" sz="1600" dirty="0">
                <a:latin typeface="Arial"/>
                <a:cs typeface="Arial"/>
              </a:rPr>
              <a:t>– </a:t>
            </a:r>
            <a:r>
              <a:rPr lang="it-IT" b="1" dirty="0"/>
              <a:t>8 core fisici</a:t>
            </a:r>
            <a:r>
              <a:rPr lang="it-IT" sz="1600" dirty="0">
                <a:latin typeface="Arial"/>
                <a:cs typeface="Arial"/>
              </a:rPr>
              <a:t>,</a:t>
            </a:r>
            <a:r>
              <a:rPr lang="it-IT" sz="1600" b="1" dirty="0">
                <a:latin typeface="Arial"/>
                <a:cs typeface="Arial"/>
              </a:rPr>
              <a:t> 16 </a:t>
            </a:r>
            <a:r>
              <a:rPr lang="it-IT" sz="1600" b="1" dirty="0" err="1">
                <a:latin typeface="Arial"/>
                <a:cs typeface="Arial"/>
              </a:rPr>
              <a:t>thread</a:t>
            </a:r>
            <a:r>
              <a:rPr lang="it-IT" sz="1600" b="1" dirty="0">
                <a:latin typeface="Arial"/>
                <a:cs typeface="Arial"/>
              </a:rPr>
              <a:t> logici </a:t>
            </a:r>
            <a:r>
              <a:rPr lang="it-IT" sz="1600" dirty="0">
                <a:latin typeface="Arial"/>
                <a:cs typeface="Arial"/>
              </a:rPr>
              <a:t>(SMT)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600" dirty="0">
                <a:latin typeface="Arial"/>
                <a:cs typeface="Arial"/>
              </a:rPr>
              <a:t>Valori: </a:t>
            </a:r>
            <a:r>
              <a:rPr lang="it-IT" sz="1600" b="1" dirty="0">
                <a:latin typeface="Arial"/>
                <a:cs typeface="Arial"/>
              </a:rPr>
              <a:t>p ∈ {1…20}</a:t>
            </a:r>
            <a:r>
              <a:rPr lang="it-IT" sz="1600" dirty="0">
                <a:latin typeface="Arial"/>
                <a:cs typeface="Arial"/>
              </a:rPr>
              <a:t>,</a:t>
            </a:r>
            <a:r>
              <a:rPr lang="it-IT" sz="1600" b="1" dirty="0">
                <a:latin typeface="Arial"/>
                <a:cs typeface="Arial"/>
              </a:rPr>
              <a:t> n ∈ {1…16} </a:t>
            </a:r>
            <a:r>
              <a:rPr lang="it-IT" sz="1600" dirty="0">
                <a:latin typeface="Arial"/>
                <a:cs typeface="Arial"/>
              </a:rPr>
              <a:t>→ </a:t>
            </a:r>
            <a:r>
              <a:rPr lang="it-IT" sz="1600" b="1" dirty="0">
                <a:latin typeface="Arial"/>
                <a:cs typeface="Arial"/>
              </a:rPr>
              <a:t>320</a:t>
            </a:r>
            <a:r>
              <a:rPr lang="it-IT" sz="1600" dirty="0">
                <a:latin typeface="Arial"/>
                <a:cs typeface="Arial"/>
              </a:rPr>
              <a:t> configurazioni totali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600" b="1" dirty="0">
                <a:latin typeface="Arial"/>
                <a:cs typeface="Arial"/>
              </a:rPr>
              <a:t>100 ripetizioni </a:t>
            </a:r>
            <a:r>
              <a:rPr lang="it-IT" sz="1600" dirty="0">
                <a:latin typeface="Arial"/>
                <a:cs typeface="Arial"/>
              </a:rPr>
              <a:t>per ciascuna configurazione</a:t>
            </a:r>
          </a:p>
        </p:txBody>
      </p:sp>
      <p:sp>
        <p:nvSpPr>
          <p:cNvPr id="3" name="Titolo">
            <a:extLst>
              <a:ext uri="{FF2B5EF4-FFF2-40B4-BE49-F238E27FC236}">
                <a16:creationId xmlns:a16="http://schemas.microsoft.com/office/drawing/2014/main" id="{70C5323D-D673-3971-DAFD-6BDFFFBA7BC2}"/>
              </a:ext>
            </a:extLst>
          </p:cNvPr>
          <p:cNvSpPr txBox="1"/>
          <p:nvPr/>
        </p:nvSpPr>
        <p:spPr>
          <a:xfrm>
            <a:off x="584753" y="943452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Valutazione prestazioni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S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901" name="RunTitle"/>
          <p:cNvSpPr txBox="1"/>
          <p:nvPr/>
        </p:nvSpPr>
        <p:spPr>
          <a:xfrm>
            <a:off x="6408873" y="51433"/>
            <a:ext cx="2284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Random Maze Solver</a:t>
            </a:r>
          </a:p>
        </p:txBody>
      </p:sp>
      <p:sp>
        <p:nvSpPr>
          <p:cNvPr id="902" name="RunDate"/>
          <p:cNvSpPr txBox="1"/>
          <p:nvPr/>
        </p:nvSpPr>
        <p:spPr>
          <a:xfrm>
            <a:off x="7638717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903" name="Rettangolo"/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4" name="Numero"/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11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81DE8A-5ED7-3129-6BD2-FD69272C1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52" y="1990962"/>
            <a:ext cx="4133295" cy="3099972"/>
          </a:xfrm>
          <a:prstGeom prst="rect">
            <a:avLst/>
          </a:prstGeom>
        </p:spPr>
      </p:pic>
      <p:sp>
        <p:nvSpPr>
          <p:cNvPr id="960" name="Corpo"/>
          <p:cNvSpPr txBox="1"/>
          <p:nvPr/>
        </p:nvSpPr>
        <p:spPr>
          <a:xfrm>
            <a:off x="4781547" y="1954106"/>
            <a:ext cx="3473453" cy="362997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Più particelle </a:t>
            </a:r>
            <a:r>
              <a:rPr lang="it-IT" sz="1500" b="0" dirty="0">
                <a:latin typeface="Arial"/>
                <a:cs typeface="Arial"/>
              </a:rPr>
              <a:t>→ più probabilità di trovare una </a:t>
            </a:r>
            <a:r>
              <a:rPr lang="it-IT" sz="1500" b="1" dirty="0">
                <a:latin typeface="Arial"/>
                <a:cs typeface="Arial"/>
              </a:rPr>
              <a:t>soluzione con minor numero di step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Più particelle </a:t>
            </a:r>
            <a:r>
              <a:rPr lang="it-IT" sz="1500" dirty="0">
                <a:latin typeface="Arial"/>
                <a:cs typeface="Arial"/>
              </a:rPr>
              <a:t>→ iterazioni totali aumentano (</a:t>
            </a:r>
            <a:r>
              <a:rPr lang="it-IT" sz="1500" b="1" dirty="0">
                <a:latin typeface="Arial"/>
                <a:cs typeface="Arial"/>
              </a:rPr>
              <a:t>più carico di lavoro totale</a:t>
            </a:r>
            <a:r>
              <a:rPr lang="it-IT" sz="1500" dirty="0">
                <a:latin typeface="Arial"/>
                <a:cs typeface="Arial"/>
              </a:rPr>
              <a:t>)</a:t>
            </a:r>
            <a:endParaRPr lang="it-IT" sz="150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dirty="0">
                <a:latin typeface="Arial"/>
                <a:cs typeface="Arial"/>
              </a:rPr>
              <a:t>D</a:t>
            </a:r>
            <a:r>
              <a:rPr lang="it-IT" sz="1350" b="0" dirty="0">
                <a:latin typeface="Arial"/>
                <a:cs typeface="Arial"/>
              </a:rPr>
              <a:t>ecrescita proporzionale a </a:t>
            </a:r>
            <a:r>
              <a:rPr lang="it-IT" sz="1350" b="1" i="1" dirty="0">
                <a:latin typeface="Arial"/>
                <a:cs typeface="Arial"/>
              </a:rPr>
              <a:t>1/</a:t>
            </a:r>
            <a:r>
              <a:rPr lang="it-IT" sz="1350" b="1" i="1" dirty="0" err="1">
                <a:latin typeface="Arial"/>
                <a:cs typeface="Arial"/>
              </a:rPr>
              <a:t>P</a:t>
            </a:r>
            <a:r>
              <a:rPr lang="it-IT" sz="1000" b="1" i="1" dirty="0" err="1">
                <a:latin typeface="Arial"/>
                <a:cs typeface="Arial"/>
              </a:rPr>
              <a:t>tot</a:t>
            </a:r>
            <a:r>
              <a:rPr lang="it-IT" sz="1350" b="1" i="1" dirty="0">
                <a:latin typeface="Arial"/>
                <a:cs typeface="Arial"/>
              </a:rPr>
              <a:t> </a:t>
            </a:r>
            <a:r>
              <a:rPr lang="it-IT" sz="1350" b="0" dirty="0">
                <a:latin typeface="Arial"/>
                <a:cs typeface="Arial"/>
              </a:rPr>
              <a:t>con </a:t>
            </a:r>
            <a:r>
              <a:rPr lang="it-IT" sz="1350" b="0" i="1" dirty="0" err="1">
                <a:latin typeface="Arial"/>
                <a:cs typeface="Arial"/>
              </a:rPr>
              <a:t>P</a:t>
            </a:r>
            <a:r>
              <a:rPr lang="it-IT" sz="1000" b="0" i="1" dirty="0" err="1">
                <a:latin typeface="Arial"/>
                <a:cs typeface="Arial"/>
              </a:rPr>
              <a:t>tot</a:t>
            </a:r>
            <a:r>
              <a:rPr lang="it-IT" sz="1350" b="0" i="1" dirty="0">
                <a:latin typeface="Arial"/>
                <a:cs typeface="Arial"/>
              </a:rPr>
              <a:t> = p × n</a:t>
            </a:r>
          </a:p>
        </p:txBody>
      </p:sp>
      <p:sp>
        <p:nvSpPr>
          <p:cNvPr id="11" name="Titolo">
            <a:extLst>
              <a:ext uri="{FF2B5EF4-FFF2-40B4-BE49-F238E27FC236}">
                <a16:creationId xmlns:a16="http://schemas.microsoft.com/office/drawing/2014/main" id="{73385F32-AE41-A1C0-DFFE-E0995577AB35}"/>
              </a:ext>
            </a:extLst>
          </p:cNvPr>
          <p:cNvSpPr txBox="1"/>
          <p:nvPr/>
        </p:nvSpPr>
        <p:spPr>
          <a:xfrm>
            <a:off x="584753" y="943452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Risultati: numero di iterazioni</a:t>
            </a:r>
          </a:p>
        </p:txBody>
      </p:sp>
      <p:sp>
        <p:nvSpPr>
          <p:cNvPr id="4" name="Corpo">
            <a:extLst>
              <a:ext uri="{FF2B5EF4-FFF2-40B4-BE49-F238E27FC236}">
                <a16:creationId xmlns:a16="http://schemas.microsoft.com/office/drawing/2014/main" id="{A76A2DAB-0760-2533-059A-109326CCA55E}"/>
              </a:ext>
            </a:extLst>
          </p:cNvPr>
          <p:cNvSpPr txBox="1"/>
          <p:nvPr/>
        </p:nvSpPr>
        <p:spPr>
          <a:xfrm>
            <a:off x="837792" y="5052823"/>
            <a:ext cx="3754216" cy="54277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it-IT" sz="1100" b="0" dirty="0">
                <a:latin typeface="Arial"/>
                <a:cs typeface="Arial"/>
              </a:rPr>
              <a:t>Grafico del numero di step della particella vincente al variare di </a:t>
            </a:r>
            <a:r>
              <a:rPr lang="it-IT" sz="1100" b="0" i="1" dirty="0">
                <a:latin typeface="Arial"/>
                <a:cs typeface="Arial"/>
              </a:rPr>
              <a:t>p</a:t>
            </a:r>
            <a:r>
              <a:rPr lang="it-IT" sz="1100" b="0" dirty="0">
                <a:latin typeface="Arial"/>
                <a:cs typeface="Arial"/>
              </a:rPr>
              <a:t> e </a:t>
            </a:r>
            <a:r>
              <a:rPr lang="it-IT" sz="1100" b="0" i="1" dirty="0">
                <a:latin typeface="Arial"/>
                <a:cs typeface="Arial"/>
              </a:rPr>
              <a:t>n</a:t>
            </a:r>
            <a:endParaRPr lang="it-IT" sz="1050" b="0" i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S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901" name="RunTitle"/>
          <p:cNvSpPr txBox="1"/>
          <p:nvPr/>
        </p:nvSpPr>
        <p:spPr>
          <a:xfrm>
            <a:off x="6408873" y="51433"/>
            <a:ext cx="2284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Random Maze Solver</a:t>
            </a:r>
          </a:p>
        </p:txBody>
      </p:sp>
      <p:sp>
        <p:nvSpPr>
          <p:cNvPr id="902" name="RunDate"/>
          <p:cNvSpPr txBox="1"/>
          <p:nvPr/>
        </p:nvSpPr>
        <p:spPr>
          <a:xfrm>
            <a:off x="7638717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903" name="Rettangolo"/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4" name="Numero"/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12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10" name="Titolo"/>
          <p:cNvSpPr txBox="1"/>
          <p:nvPr/>
        </p:nvSpPr>
        <p:spPr>
          <a:xfrm>
            <a:off x="584753" y="943452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Risultati: speedup vs singola particella</a:t>
            </a:r>
          </a:p>
        </p:txBody>
      </p:sp>
      <p:sp>
        <p:nvSpPr>
          <p:cNvPr id="960" name="Corpo"/>
          <p:cNvSpPr txBox="1"/>
          <p:nvPr/>
        </p:nvSpPr>
        <p:spPr>
          <a:xfrm>
            <a:off x="584753" y="1922620"/>
            <a:ext cx="3987247" cy="354842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Formula: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Misura l’effetto dell’</a:t>
            </a:r>
            <a:r>
              <a:rPr lang="it-IT" sz="1500" b="1" dirty="0">
                <a:latin typeface="Arial"/>
                <a:cs typeface="Arial"/>
              </a:rPr>
              <a:t>aumento di </a:t>
            </a:r>
            <a:r>
              <a:rPr lang="it-IT" sz="1500" b="1" i="1" dirty="0">
                <a:latin typeface="Arial"/>
                <a:cs typeface="Arial"/>
              </a:rPr>
              <a:t>particelle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i="1" dirty="0">
                <a:latin typeface="Arial"/>
                <a:cs typeface="Arial"/>
              </a:rPr>
              <a:t>p</a:t>
            </a:r>
            <a:r>
              <a:rPr lang="it-IT" sz="1500" b="1" dirty="0">
                <a:latin typeface="Arial"/>
                <a:cs typeface="Arial"/>
              </a:rPr>
              <a:t> aumenta </a:t>
            </a:r>
            <a:r>
              <a:rPr lang="it-IT" sz="1500" b="0" dirty="0">
                <a:latin typeface="Arial"/>
                <a:cs typeface="Arial"/>
              </a:rPr>
              <a:t>→ </a:t>
            </a:r>
            <a:r>
              <a:rPr lang="it-IT" sz="1500" b="1" dirty="0">
                <a:latin typeface="Arial"/>
                <a:cs typeface="Arial"/>
              </a:rPr>
              <a:t>carico</a:t>
            </a:r>
            <a:r>
              <a:rPr lang="it-IT" sz="1500" b="0" dirty="0">
                <a:latin typeface="Arial"/>
                <a:cs typeface="Arial"/>
              </a:rPr>
              <a:t> di lavoro del thread </a:t>
            </a:r>
            <a:r>
              <a:rPr lang="it-IT" sz="1500" b="1" dirty="0">
                <a:latin typeface="Arial"/>
                <a:cs typeface="Arial"/>
              </a:rPr>
              <a:t>cresce</a:t>
            </a:r>
            <a:r>
              <a:rPr lang="it-IT" sz="1500" b="0" dirty="0">
                <a:latin typeface="Arial"/>
                <a:cs typeface="Arial"/>
              </a:rPr>
              <a:t> linearmente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Più particelle aiutano a trovare un percorso migliore, ma il costo della computazione prevale → </a:t>
            </a:r>
            <a:r>
              <a:rPr lang="it-IT" sz="1500" b="1" dirty="0" err="1">
                <a:latin typeface="Arial"/>
                <a:cs typeface="Arial"/>
              </a:rPr>
              <a:t>speedup</a:t>
            </a:r>
            <a:r>
              <a:rPr lang="it-IT" sz="1500" b="1" dirty="0">
                <a:latin typeface="Arial"/>
                <a:cs typeface="Arial"/>
              </a:rPr>
              <a:t> decresce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A5B573-CFDB-0BA0-3FC9-18F3C8F72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873" y="1922620"/>
            <a:ext cx="4454511" cy="3340883"/>
          </a:xfrm>
          <a:prstGeom prst="rect">
            <a:avLst/>
          </a:prstGeom>
        </p:spPr>
      </p:pic>
      <p:sp>
        <p:nvSpPr>
          <p:cNvPr id="4" name="Corpo">
            <a:extLst>
              <a:ext uri="{FF2B5EF4-FFF2-40B4-BE49-F238E27FC236}">
                <a16:creationId xmlns:a16="http://schemas.microsoft.com/office/drawing/2014/main" id="{FC7E47A9-F9DB-AE44-5044-0DB962BEED13}"/>
              </a:ext>
            </a:extLst>
          </p:cNvPr>
          <p:cNvSpPr txBox="1"/>
          <p:nvPr/>
        </p:nvSpPr>
        <p:spPr>
          <a:xfrm>
            <a:off x="4505872" y="5199657"/>
            <a:ext cx="4326977" cy="54277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it-IT" sz="1100" b="0" dirty="0" err="1">
                <a:latin typeface="Arial"/>
                <a:cs typeface="Arial"/>
              </a:rPr>
              <a:t>Heatmap</a:t>
            </a:r>
            <a:r>
              <a:rPr lang="it-IT" sz="1100" b="0" dirty="0">
                <a:latin typeface="Arial"/>
                <a:cs typeface="Arial"/>
              </a:rPr>
              <a:t> del valore </a:t>
            </a:r>
            <a:r>
              <a:rPr lang="it-IT" sz="1100" dirty="0">
                <a:latin typeface="Arial"/>
                <a:cs typeface="Arial"/>
              </a:rPr>
              <a:t>di </a:t>
            </a:r>
            <a:r>
              <a:rPr lang="it-IT" sz="1100" dirty="0" err="1">
                <a:latin typeface="Arial"/>
                <a:cs typeface="Arial"/>
              </a:rPr>
              <a:t>speedup</a:t>
            </a:r>
            <a:r>
              <a:rPr lang="it-IT" sz="1100" dirty="0">
                <a:latin typeface="Arial"/>
                <a:cs typeface="Arial"/>
              </a:rPr>
              <a:t> (S</a:t>
            </a:r>
            <a:r>
              <a:rPr lang="it-IT" sz="1100" baseline="-25000" dirty="0">
                <a:latin typeface="Arial"/>
                <a:cs typeface="Arial"/>
              </a:rPr>
              <a:t>1</a:t>
            </a:r>
            <a:r>
              <a:rPr lang="it-IT" sz="1100" dirty="0">
                <a:latin typeface="Arial"/>
                <a:cs typeface="Arial"/>
              </a:rPr>
              <a:t>) </a:t>
            </a:r>
            <a:r>
              <a:rPr lang="it-IT" sz="1100" b="0" dirty="0">
                <a:latin typeface="Arial"/>
                <a:cs typeface="Arial"/>
              </a:rPr>
              <a:t>al variare di </a:t>
            </a:r>
            <a:r>
              <a:rPr lang="it-IT" sz="1100" b="0" i="1" dirty="0">
                <a:latin typeface="Arial"/>
                <a:cs typeface="Arial"/>
              </a:rPr>
              <a:t>p</a:t>
            </a:r>
            <a:r>
              <a:rPr lang="it-IT" sz="1100" b="0" dirty="0">
                <a:latin typeface="Arial"/>
                <a:cs typeface="Arial"/>
              </a:rPr>
              <a:t> e </a:t>
            </a:r>
            <a:r>
              <a:rPr lang="it-IT" sz="1100" b="0" i="1" dirty="0">
                <a:latin typeface="Arial"/>
                <a:cs typeface="Arial"/>
              </a:rPr>
              <a:t>n</a:t>
            </a:r>
            <a:endParaRPr lang="it-IT" sz="1050" b="0" i="1" dirty="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449E64-B56E-30E6-4D34-1CED4A20E1CB}"/>
                  </a:ext>
                </a:extLst>
              </p:cNvPr>
              <p:cNvSpPr txBox="1"/>
              <p:nvPr/>
            </p:nvSpPr>
            <p:spPr>
              <a:xfrm>
                <a:off x="1537243" y="2331524"/>
                <a:ext cx="2082266" cy="676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1800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it-IT" sz="1800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pt-BR" sz="1800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800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pt-BR" sz="1800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1800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pt-BR" sz="1800" b="1" i="1" dirty="0" smtClean="0">
                          <a:solidFill>
                            <a:srgbClr val="00305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800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it-IT" sz="1800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800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pt-BR" sz="1800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1800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num>
                        <m:den>
                          <m:r>
                            <a:rPr lang="pt-BR" sz="1800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pt-BR" sz="1800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800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pt-BR" sz="1800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800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it-IT" sz="1800" b="1" i="1" dirty="0">
                  <a:solidFill>
                    <a:srgbClr val="003053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449E64-B56E-30E6-4D34-1CED4A20E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243" y="2331524"/>
                <a:ext cx="2082266" cy="6765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S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901" name="RunTitle"/>
          <p:cNvSpPr txBox="1"/>
          <p:nvPr/>
        </p:nvSpPr>
        <p:spPr>
          <a:xfrm>
            <a:off x="6408873" y="51433"/>
            <a:ext cx="2284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Random Maze Solver</a:t>
            </a:r>
          </a:p>
        </p:txBody>
      </p:sp>
      <p:sp>
        <p:nvSpPr>
          <p:cNvPr id="902" name="RunDate"/>
          <p:cNvSpPr txBox="1"/>
          <p:nvPr/>
        </p:nvSpPr>
        <p:spPr>
          <a:xfrm>
            <a:off x="7638717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903" name="Rettangolo"/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4" name="Numero"/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13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10" name="Titolo"/>
          <p:cNvSpPr txBox="1"/>
          <p:nvPr/>
        </p:nvSpPr>
        <p:spPr>
          <a:xfrm>
            <a:off x="584753" y="946274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Risultati: speedup vs singolo thread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B4C2C1-0667-D0DF-43E2-9A1432614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3" y="1917512"/>
            <a:ext cx="4454511" cy="3340884"/>
          </a:xfrm>
          <a:prstGeom prst="rect">
            <a:avLst/>
          </a:prstGeom>
        </p:spPr>
      </p:pic>
      <p:sp>
        <p:nvSpPr>
          <p:cNvPr id="960" name="Corpo"/>
          <p:cNvSpPr txBox="1"/>
          <p:nvPr/>
        </p:nvSpPr>
        <p:spPr>
          <a:xfrm>
            <a:off x="5039264" y="1917512"/>
            <a:ext cx="3709896" cy="37917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Formula: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Misura l’effetto dell’</a:t>
            </a:r>
            <a:r>
              <a:rPr lang="it-IT" sz="1500" b="1" dirty="0">
                <a:latin typeface="Arial"/>
                <a:cs typeface="Arial"/>
              </a:rPr>
              <a:t>aumento di </a:t>
            </a:r>
            <a:r>
              <a:rPr lang="it-IT" sz="1500" b="1" dirty="0" err="1">
                <a:latin typeface="Arial"/>
                <a:cs typeface="Arial"/>
              </a:rPr>
              <a:t>thread</a:t>
            </a:r>
            <a:endParaRPr lang="it-IT" sz="1500" b="1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Più </a:t>
            </a:r>
            <a:r>
              <a:rPr lang="it-IT" sz="1500" b="1" dirty="0" err="1">
                <a:latin typeface="Arial"/>
                <a:cs typeface="Arial"/>
              </a:rPr>
              <a:t>thread</a:t>
            </a:r>
            <a:r>
              <a:rPr lang="it-IT" sz="1500" b="1" dirty="0">
                <a:latin typeface="Arial"/>
                <a:cs typeface="Arial"/>
              </a:rPr>
              <a:t> </a:t>
            </a:r>
            <a:r>
              <a:rPr lang="it-IT" sz="1500" b="0" dirty="0">
                <a:latin typeface="Arial"/>
                <a:cs typeface="Arial"/>
              </a:rPr>
              <a:t>→ </a:t>
            </a:r>
            <a:r>
              <a:rPr lang="it-IT" sz="1500" b="1" dirty="0">
                <a:latin typeface="Arial"/>
                <a:cs typeface="Arial"/>
              </a:rPr>
              <a:t>più ricerche contemporanee </a:t>
            </a:r>
            <a:r>
              <a:rPr lang="it-IT" sz="1500" dirty="0">
                <a:latin typeface="Arial"/>
                <a:cs typeface="Arial"/>
              </a:rPr>
              <a:t>→ </a:t>
            </a:r>
            <a:r>
              <a:rPr lang="it-IT" sz="1500" b="0" dirty="0">
                <a:latin typeface="Arial"/>
                <a:cs typeface="Arial"/>
              </a:rPr>
              <a:t>più probabilità di </a:t>
            </a:r>
            <a:r>
              <a:rPr lang="it-IT" sz="1500" b="1" dirty="0">
                <a:latin typeface="Arial"/>
                <a:cs typeface="Arial"/>
              </a:rPr>
              <a:t>trovare l’uscita velocemente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Picco tra </a:t>
            </a:r>
            <a:r>
              <a:rPr lang="it-IT" sz="1500" b="1" i="1" dirty="0">
                <a:latin typeface="Arial"/>
                <a:cs typeface="Arial"/>
              </a:rPr>
              <a:t>n=4</a:t>
            </a:r>
            <a:r>
              <a:rPr lang="it-IT" sz="1500" b="1" dirty="0">
                <a:latin typeface="Arial"/>
                <a:cs typeface="Arial"/>
              </a:rPr>
              <a:t> </a:t>
            </a:r>
            <a:r>
              <a:rPr lang="it-IT" sz="1500" dirty="0">
                <a:latin typeface="Arial"/>
                <a:cs typeface="Arial"/>
              </a:rPr>
              <a:t>e</a:t>
            </a:r>
            <a:r>
              <a:rPr lang="it-IT" sz="1500" b="1" dirty="0">
                <a:latin typeface="Arial"/>
                <a:cs typeface="Arial"/>
              </a:rPr>
              <a:t> </a:t>
            </a:r>
            <a:r>
              <a:rPr lang="it-IT" sz="1500" b="1" i="1" dirty="0">
                <a:latin typeface="Arial"/>
                <a:cs typeface="Arial"/>
              </a:rPr>
              <a:t>n=8</a:t>
            </a:r>
            <a:endParaRPr lang="it-IT" sz="1500" b="0" i="1" dirty="0">
              <a:latin typeface="Arial"/>
              <a:cs typeface="Arial"/>
            </a:endParaRP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0" dirty="0">
                <a:latin typeface="Arial"/>
                <a:cs typeface="Arial"/>
              </a:rPr>
              <a:t>oltre </a:t>
            </a:r>
            <a:r>
              <a:rPr lang="it-IT" sz="1350" b="0" i="1" dirty="0">
                <a:latin typeface="Arial"/>
                <a:cs typeface="Arial"/>
              </a:rPr>
              <a:t>n=8</a:t>
            </a:r>
            <a:r>
              <a:rPr lang="it-IT" sz="1350" b="0" dirty="0">
                <a:latin typeface="Arial"/>
                <a:cs typeface="Arial"/>
              </a:rPr>
              <a:t> → SMT: </a:t>
            </a:r>
            <a:r>
              <a:rPr lang="it-IT" sz="1350" b="0" dirty="0" err="1">
                <a:latin typeface="Arial"/>
                <a:cs typeface="Arial"/>
              </a:rPr>
              <a:t>thread</a:t>
            </a:r>
            <a:r>
              <a:rPr lang="it-IT" sz="1350" b="0" dirty="0">
                <a:latin typeface="Arial"/>
                <a:cs typeface="Arial"/>
              </a:rPr>
              <a:t> condividono </a:t>
            </a:r>
            <a:r>
              <a:rPr lang="it-IT" sz="1350" b="1" dirty="0">
                <a:latin typeface="Arial"/>
                <a:cs typeface="Arial"/>
              </a:rPr>
              <a:t>cache</a:t>
            </a:r>
            <a:r>
              <a:rPr lang="it-IT" sz="1350" b="0" dirty="0">
                <a:latin typeface="Arial"/>
                <a:cs typeface="Arial"/>
              </a:rPr>
              <a:t> → </a:t>
            </a:r>
            <a:r>
              <a:rPr lang="it-IT" sz="1350" b="1" dirty="0">
                <a:latin typeface="Arial"/>
                <a:cs typeface="Arial"/>
              </a:rPr>
              <a:t>contesa</a:t>
            </a:r>
            <a:r>
              <a:rPr lang="it-IT" sz="1350" b="0" dirty="0">
                <a:latin typeface="Arial"/>
                <a:cs typeface="Arial"/>
              </a:rPr>
              <a:t> → </a:t>
            </a:r>
            <a:r>
              <a:rPr lang="it-IT" sz="1350" b="1" dirty="0" err="1">
                <a:latin typeface="Arial"/>
                <a:cs typeface="Arial"/>
              </a:rPr>
              <a:t>speedup</a:t>
            </a:r>
            <a:r>
              <a:rPr lang="it-IT" sz="1350" b="1" dirty="0">
                <a:latin typeface="Arial"/>
                <a:cs typeface="Arial"/>
              </a:rPr>
              <a:t> scende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42953A-3461-1789-09BE-88DD821D0DF8}"/>
              </a:ext>
            </a:extLst>
          </p:cNvPr>
          <p:cNvSpPr txBox="1"/>
          <p:nvPr/>
        </p:nvSpPr>
        <p:spPr>
          <a:xfrm>
            <a:off x="584753" y="5258396"/>
            <a:ext cx="44545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it-IT" sz="1100" b="0" dirty="0" err="1">
                <a:latin typeface="Arial"/>
                <a:cs typeface="Arial"/>
              </a:rPr>
              <a:t>Heatmap</a:t>
            </a:r>
            <a:r>
              <a:rPr lang="it-IT" sz="1100" b="0" dirty="0">
                <a:latin typeface="Arial"/>
                <a:cs typeface="Arial"/>
              </a:rPr>
              <a:t> del valore </a:t>
            </a:r>
            <a:r>
              <a:rPr lang="it-IT" sz="1100" dirty="0">
                <a:latin typeface="Arial"/>
                <a:cs typeface="Arial"/>
              </a:rPr>
              <a:t>di </a:t>
            </a:r>
            <a:r>
              <a:rPr lang="it-IT" sz="1100" dirty="0" err="1">
                <a:latin typeface="Arial"/>
                <a:cs typeface="Arial"/>
              </a:rPr>
              <a:t>speedup</a:t>
            </a:r>
            <a:r>
              <a:rPr lang="it-IT" sz="1100" dirty="0">
                <a:latin typeface="Arial"/>
                <a:cs typeface="Arial"/>
              </a:rPr>
              <a:t> (S</a:t>
            </a:r>
            <a:r>
              <a:rPr lang="it-IT" sz="1100" baseline="-25000" dirty="0">
                <a:latin typeface="Arial"/>
                <a:cs typeface="Arial"/>
              </a:rPr>
              <a:t>2</a:t>
            </a:r>
            <a:r>
              <a:rPr lang="it-IT" sz="1100" dirty="0">
                <a:latin typeface="Arial"/>
                <a:cs typeface="Arial"/>
              </a:rPr>
              <a:t>) </a:t>
            </a:r>
            <a:r>
              <a:rPr lang="it-IT" sz="1100" b="0" dirty="0">
                <a:latin typeface="Arial"/>
                <a:cs typeface="Arial"/>
              </a:rPr>
              <a:t>al variare di </a:t>
            </a:r>
            <a:r>
              <a:rPr lang="it-IT" sz="1100" b="0" i="1" dirty="0">
                <a:latin typeface="Arial"/>
                <a:cs typeface="Arial"/>
              </a:rPr>
              <a:t>p</a:t>
            </a:r>
            <a:r>
              <a:rPr lang="it-IT" sz="1100" b="0" dirty="0">
                <a:latin typeface="Arial"/>
                <a:cs typeface="Arial"/>
              </a:rPr>
              <a:t> e </a:t>
            </a:r>
            <a:r>
              <a:rPr lang="it-IT" sz="1100" b="0" i="1" dirty="0">
                <a:latin typeface="Arial"/>
                <a:cs typeface="Arial"/>
              </a:rPr>
              <a:t>n</a:t>
            </a:r>
            <a:endParaRPr lang="it-IT" sz="1050" b="0" i="1" dirty="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1B708A-C879-0B20-658E-0A0F25D20B85}"/>
                  </a:ext>
                </a:extLst>
              </p:cNvPr>
              <p:cNvSpPr txBox="1"/>
              <p:nvPr/>
            </p:nvSpPr>
            <p:spPr>
              <a:xfrm>
                <a:off x="5954050" y="2352506"/>
                <a:ext cx="1880323" cy="584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pt-BR" b="1" i="0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pt-BR" b="1" i="0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pt-BR" b="1" i="0" dirty="0" smtClean="0">
                          <a:solidFill>
                            <a:srgbClr val="00305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pt-BR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pt-BR" b="1" i="0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1" i="0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pt-BR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pt-BR" b="1" i="0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it-IT" b="1" dirty="0">
                  <a:solidFill>
                    <a:srgbClr val="003053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1B708A-C879-0B20-658E-0A0F25D20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050" y="2352506"/>
                <a:ext cx="1880323" cy="5841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9188B43-88A5-536C-D010-642F70AA3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932" y="1545379"/>
            <a:ext cx="4224866" cy="3168650"/>
          </a:xfrm>
          <a:prstGeom prst="rect">
            <a:avLst/>
          </a:prstGeom>
        </p:spPr>
      </p:pic>
      <p:pic>
        <p:nvPicPr>
          <p:cNvPr id="900" name="Sfon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901" name="RunTitle"/>
          <p:cNvSpPr txBox="1"/>
          <p:nvPr/>
        </p:nvSpPr>
        <p:spPr>
          <a:xfrm>
            <a:off x="6408873" y="51433"/>
            <a:ext cx="2284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Random Maze Solver</a:t>
            </a:r>
          </a:p>
        </p:txBody>
      </p:sp>
      <p:sp>
        <p:nvSpPr>
          <p:cNvPr id="902" name="RunDate"/>
          <p:cNvSpPr txBox="1"/>
          <p:nvPr/>
        </p:nvSpPr>
        <p:spPr>
          <a:xfrm>
            <a:off x="7638717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903" name="Rettangolo"/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4" name="Numero"/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14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10" name="Titolo"/>
          <p:cNvSpPr txBox="1"/>
          <p:nvPr/>
        </p:nvSpPr>
        <p:spPr>
          <a:xfrm>
            <a:off x="582704" y="942458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Risultati: speedup complessivo</a:t>
            </a:r>
          </a:p>
        </p:txBody>
      </p:sp>
      <p:sp>
        <p:nvSpPr>
          <p:cNvPr id="960" name="Corpo"/>
          <p:cNvSpPr txBox="1"/>
          <p:nvPr/>
        </p:nvSpPr>
        <p:spPr>
          <a:xfrm>
            <a:off x="582704" y="5128823"/>
            <a:ext cx="7953059" cy="151962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Formula: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dirty="0">
                <a:latin typeface="Arial"/>
                <a:cs typeface="Arial"/>
              </a:rPr>
              <a:t>Il </a:t>
            </a:r>
            <a:r>
              <a:rPr lang="it-IT" sz="1500" b="1" dirty="0">
                <a:latin typeface="Arial"/>
                <a:cs typeface="Arial"/>
              </a:rPr>
              <a:t>tempo assoluto cresce </a:t>
            </a:r>
            <a:r>
              <a:rPr lang="it-IT" sz="1500" dirty="0">
                <a:latin typeface="Arial"/>
                <a:cs typeface="Arial"/>
              </a:rPr>
              <a:t>molto con </a:t>
            </a:r>
            <a:r>
              <a:rPr lang="it-IT" sz="1500" i="1" dirty="0">
                <a:latin typeface="Arial"/>
                <a:cs typeface="Arial"/>
              </a:rPr>
              <a:t>p</a:t>
            </a:r>
            <a:r>
              <a:rPr lang="it-IT" sz="1500" dirty="0">
                <a:latin typeface="Arial"/>
                <a:cs typeface="Arial"/>
              </a:rPr>
              <a:t>, mentre </a:t>
            </a:r>
            <a:r>
              <a:rPr lang="it-IT" sz="1500" b="1" dirty="0">
                <a:latin typeface="Arial"/>
                <a:cs typeface="Arial"/>
              </a:rPr>
              <a:t>con </a:t>
            </a:r>
            <a:r>
              <a:rPr lang="it-IT" sz="1500" b="1" i="1" dirty="0">
                <a:latin typeface="Arial"/>
                <a:cs typeface="Arial"/>
              </a:rPr>
              <a:t>n</a:t>
            </a:r>
            <a:r>
              <a:rPr lang="it-IT" sz="1500" b="1" dirty="0">
                <a:latin typeface="Arial"/>
                <a:cs typeface="Arial"/>
              </a:rPr>
              <a:t> rimane pressoché costante </a:t>
            </a:r>
            <a:r>
              <a:rPr lang="it-IT" sz="1500" dirty="0">
                <a:latin typeface="Arial"/>
                <a:cs typeface="Arial"/>
              </a:rPr>
              <a:t>fino a </a:t>
            </a:r>
            <a:r>
              <a:rPr lang="it-IT" sz="1500" i="1" dirty="0">
                <a:latin typeface="Arial"/>
                <a:cs typeface="Arial"/>
              </a:rPr>
              <a:t>n=8 </a:t>
            </a:r>
            <a:r>
              <a:rPr lang="it-IT" sz="1600" dirty="0">
                <a:latin typeface="Arial"/>
                <a:cs typeface="Arial"/>
              </a:rPr>
              <a:t>→ picchi </a:t>
            </a:r>
            <a:r>
              <a:rPr lang="it-IT" sz="1600" b="1" dirty="0" err="1">
                <a:latin typeface="Arial"/>
                <a:cs typeface="Arial"/>
              </a:rPr>
              <a:t>speedup</a:t>
            </a:r>
            <a:r>
              <a:rPr lang="it-IT" sz="1600" dirty="0">
                <a:latin typeface="Arial"/>
                <a:cs typeface="Arial"/>
              </a:rPr>
              <a:t> con </a:t>
            </a:r>
            <a:r>
              <a:rPr lang="it-IT" sz="1600" i="1" dirty="0">
                <a:latin typeface="Arial"/>
                <a:cs typeface="Arial"/>
              </a:rPr>
              <a:t>p=2</a:t>
            </a:r>
            <a:endParaRPr lang="it-IT" sz="1500" i="1" dirty="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37488D-F892-78AA-7C31-158F9CE6E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066" y="1557307"/>
            <a:ext cx="4224866" cy="3168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C44834-4EAF-DC16-65F5-392C978B2E4A}"/>
              </a:ext>
            </a:extLst>
          </p:cNvPr>
          <p:cNvSpPr txBox="1"/>
          <p:nvPr/>
        </p:nvSpPr>
        <p:spPr>
          <a:xfrm>
            <a:off x="476251" y="4714029"/>
            <a:ext cx="42248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it-IT" sz="1100" dirty="0">
                <a:latin typeface="Arial"/>
                <a:cs typeface="Arial"/>
              </a:rPr>
              <a:t>Grafico del tempo impiegato al variare di </a:t>
            </a:r>
            <a:r>
              <a:rPr lang="it-IT" sz="1100" i="1" dirty="0">
                <a:latin typeface="Arial"/>
                <a:cs typeface="Arial"/>
              </a:rPr>
              <a:t>p</a:t>
            </a:r>
            <a:r>
              <a:rPr lang="it-IT" sz="1100" dirty="0">
                <a:latin typeface="Arial"/>
                <a:cs typeface="Arial"/>
              </a:rPr>
              <a:t> e </a:t>
            </a:r>
            <a:r>
              <a:rPr lang="it-IT" sz="1100" i="1" dirty="0">
                <a:latin typeface="Arial"/>
                <a:cs typeface="Arial"/>
              </a:rPr>
              <a:t>n</a:t>
            </a:r>
            <a:endParaRPr lang="it-IT" sz="1050" i="1" dirty="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C8260-739C-777B-F903-662EAB71F2D4}"/>
              </a:ext>
            </a:extLst>
          </p:cNvPr>
          <p:cNvSpPr txBox="1"/>
          <p:nvPr/>
        </p:nvSpPr>
        <p:spPr>
          <a:xfrm>
            <a:off x="4492217" y="4705964"/>
            <a:ext cx="42248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it-IT" sz="1100" dirty="0" err="1">
                <a:latin typeface="Arial"/>
                <a:cs typeface="Arial"/>
              </a:rPr>
              <a:t>Heatmap</a:t>
            </a:r>
            <a:r>
              <a:rPr lang="it-IT" sz="1100" dirty="0">
                <a:latin typeface="Arial"/>
                <a:cs typeface="Arial"/>
              </a:rPr>
              <a:t> del valore di </a:t>
            </a:r>
            <a:r>
              <a:rPr lang="it-IT" sz="1100" dirty="0" err="1">
                <a:latin typeface="Arial"/>
                <a:cs typeface="Arial"/>
              </a:rPr>
              <a:t>speedup</a:t>
            </a:r>
            <a:r>
              <a:rPr lang="it-IT" sz="1100" dirty="0">
                <a:latin typeface="Arial"/>
                <a:cs typeface="Arial"/>
              </a:rPr>
              <a:t> (S</a:t>
            </a:r>
            <a:r>
              <a:rPr lang="it-IT" sz="1100" baseline="-25000" dirty="0">
                <a:latin typeface="Arial"/>
                <a:cs typeface="Arial"/>
              </a:rPr>
              <a:t>3</a:t>
            </a:r>
            <a:r>
              <a:rPr lang="it-IT" sz="1100" dirty="0">
                <a:latin typeface="Arial"/>
                <a:cs typeface="Arial"/>
              </a:rPr>
              <a:t>) al variare di </a:t>
            </a:r>
            <a:r>
              <a:rPr lang="it-IT" sz="1100" i="1" dirty="0">
                <a:latin typeface="Arial"/>
                <a:cs typeface="Arial"/>
              </a:rPr>
              <a:t>p</a:t>
            </a:r>
            <a:r>
              <a:rPr lang="it-IT" sz="1100" dirty="0">
                <a:latin typeface="Arial"/>
                <a:cs typeface="Arial"/>
              </a:rPr>
              <a:t> e </a:t>
            </a:r>
            <a:r>
              <a:rPr lang="it-IT" sz="1100" i="1" dirty="0">
                <a:latin typeface="Arial"/>
                <a:cs typeface="Arial"/>
              </a:rPr>
              <a:t>n</a:t>
            </a:r>
            <a:endParaRPr lang="it-IT" sz="1050" i="1" dirty="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31910B-8D8F-9DB3-62F3-181D716F8F60}"/>
                  </a:ext>
                </a:extLst>
              </p:cNvPr>
              <p:cNvSpPr txBox="1"/>
              <p:nvPr/>
            </p:nvSpPr>
            <p:spPr>
              <a:xfrm>
                <a:off x="2086900" y="5128823"/>
                <a:ext cx="1880323" cy="584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it-IT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d>
                        <m:dPr>
                          <m:ctrlP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pt-BR" b="1" i="1" dirty="0" smtClean="0">
                          <a:solidFill>
                            <a:srgbClr val="00305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it-IT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pt-BR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pt-BR" b="1" i="1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pt-BR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pt-BR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1" i="1" dirty="0" smtClean="0">
                                  <a:solidFill>
                                    <a:srgbClr val="003053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it-IT" b="1" i="1" dirty="0">
                  <a:solidFill>
                    <a:srgbClr val="003053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31910B-8D8F-9DB3-62F3-181D716F8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900" y="5128823"/>
                <a:ext cx="1880323" cy="5841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S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901" name="RunTitle"/>
          <p:cNvSpPr txBox="1"/>
          <p:nvPr/>
        </p:nvSpPr>
        <p:spPr>
          <a:xfrm>
            <a:off x="6408873" y="51433"/>
            <a:ext cx="2284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Random Maze Solver</a:t>
            </a:r>
          </a:p>
        </p:txBody>
      </p:sp>
      <p:sp>
        <p:nvSpPr>
          <p:cNvPr id="902" name="RunDate"/>
          <p:cNvSpPr txBox="1"/>
          <p:nvPr/>
        </p:nvSpPr>
        <p:spPr>
          <a:xfrm>
            <a:off x="7638717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903" name="Rettangolo"/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4" name="Numero"/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15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10" name="Titolo"/>
          <p:cNvSpPr txBox="1"/>
          <p:nvPr/>
        </p:nvSpPr>
        <p:spPr>
          <a:xfrm>
            <a:off x="648253" y="1305402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Conclusioni</a:t>
            </a:r>
          </a:p>
        </p:txBody>
      </p:sp>
      <p:sp>
        <p:nvSpPr>
          <p:cNvPr id="920" name="Corpo"/>
          <p:cNvSpPr txBox="1"/>
          <p:nvPr/>
        </p:nvSpPr>
        <p:spPr>
          <a:xfrm>
            <a:off x="648252" y="1922621"/>
            <a:ext cx="7819027" cy="36099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L'</a:t>
            </a:r>
            <a:r>
              <a:rPr lang="it-IT" sz="1500" b="1" dirty="0">
                <a:latin typeface="Arial"/>
                <a:cs typeface="Arial"/>
              </a:rPr>
              <a:t>elevata variabilità intrinseca </a:t>
            </a:r>
            <a:r>
              <a:rPr lang="it-IT" sz="1500" b="0" dirty="0">
                <a:latin typeface="Arial"/>
                <a:cs typeface="Arial"/>
              </a:rPr>
              <a:t>del problema rende </a:t>
            </a:r>
            <a:r>
              <a:rPr lang="it-IT" sz="1500" b="1" dirty="0">
                <a:latin typeface="Arial"/>
                <a:cs typeface="Arial"/>
              </a:rPr>
              <a:t>difficile </a:t>
            </a:r>
            <a:r>
              <a:rPr lang="it-IT" sz="1500" dirty="0">
                <a:latin typeface="Arial"/>
                <a:cs typeface="Arial"/>
              </a:rPr>
              <a:t>l'</a:t>
            </a:r>
            <a:r>
              <a:rPr lang="it-IT" sz="1500" b="1" dirty="0">
                <a:latin typeface="Arial"/>
                <a:cs typeface="Arial"/>
              </a:rPr>
              <a:t>analisi </a:t>
            </a:r>
            <a:r>
              <a:rPr lang="it-IT" sz="1500" b="0" dirty="0">
                <a:latin typeface="Arial"/>
                <a:cs typeface="Arial"/>
              </a:rPr>
              <a:t>delle prestazioni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Più particelle </a:t>
            </a:r>
            <a:r>
              <a:rPr lang="it-IT" sz="1500" b="0" dirty="0">
                <a:latin typeface="Arial"/>
                <a:cs typeface="Arial"/>
              </a:rPr>
              <a:t>→ </a:t>
            </a:r>
            <a:r>
              <a:rPr lang="it-IT" sz="1500" b="1" dirty="0">
                <a:latin typeface="Arial"/>
                <a:cs typeface="Arial"/>
              </a:rPr>
              <a:t>percorso</a:t>
            </a:r>
            <a:r>
              <a:rPr lang="it-IT" sz="1500" b="0" dirty="0">
                <a:latin typeface="Arial"/>
                <a:cs typeface="Arial"/>
              </a:rPr>
              <a:t> finale molto </a:t>
            </a:r>
            <a:r>
              <a:rPr lang="it-IT" sz="1500" b="1" dirty="0">
                <a:latin typeface="Arial"/>
                <a:cs typeface="Arial"/>
              </a:rPr>
              <a:t>più corto </a:t>
            </a:r>
            <a:r>
              <a:rPr lang="it-IT" sz="1500" b="0" dirty="0">
                <a:latin typeface="Arial"/>
                <a:cs typeface="Arial"/>
              </a:rPr>
              <a:t>ma con </a:t>
            </a:r>
            <a:r>
              <a:rPr lang="it-IT" sz="1500" b="1" dirty="0">
                <a:latin typeface="Arial"/>
                <a:cs typeface="Arial"/>
              </a:rPr>
              <a:t>costo computazionale maggiore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Più thread </a:t>
            </a:r>
            <a:r>
              <a:rPr lang="it-IT" sz="1500" b="0" dirty="0">
                <a:latin typeface="Arial"/>
                <a:cs typeface="Arial"/>
              </a:rPr>
              <a:t>→ speedup reale, ma si degrada oltre i core fisici della macchina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dirty="0">
                <a:latin typeface="Arial"/>
                <a:cs typeface="Arial"/>
              </a:rPr>
              <a:t>→ nonostante ciò il problema affrontato si presta comunque al </a:t>
            </a:r>
            <a:r>
              <a:rPr lang="it-IT" sz="1500" b="1" dirty="0">
                <a:latin typeface="Arial"/>
                <a:cs typeface="Arial"/>
              </a:rPr>
              <a:t>parallelismo</a:t>
            </a:r>
            <a:r>
              <a:rPr lang="it-IT" sz="1500" dirty="0">
                <a:latin typeface="Arial"/>
                <a:cs typeface="Arial"/>
              </a:rPr>
              <a:t>, che con il </a:t>
            </a:r>
            <a:r>
              <a:rPr lang="it-IT" sz="1500" b="1" dirty="0">
                <a:latin typeface="Arial"/>
                <a:cs typeface="Arial"/>
              </a:rPr>
              <a:t>giusto compromesso </a:t>
            </a:r>
            <a:r>
              <a:rPr lang="it-IT" sz="1500" dirty="0">
                <a:latin typeface="Arial"/>
                <a:cs typeface="Arial"/>
              </a:rPr>
              <a:t>porta benefici</a:t>
            </a:r>
            <a:endParaRPr lang="it-IT" sz="150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Configurazione ottimale:</a:t>
            </a:r>
          </a:p>
          <a:p>
            <a:pPr marL="571500" indent="-228600">
              <a:spcBef>
                <a:spcPts val="600"/>
              </a:spcBef>
              <a:buFont typeface="Arial"/>
              <a:buChar char="–"/>
            </a:pPr>
            <a:r>
              <a:rPr lang="it-IT" sz="1350" b="1" dirty="0">
                <a:solidFill>
                  <a:srgbClr val="003053"/>
                </a:solidFill>
                <a:latin typeface="Arial"/>
                <a:cs typeface="Arial"/>
              </a:rPr>
              <a:t>p = 2 particelle per thread, n = 8 thread (pari ai core fisici)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930" y="6347762"/>
            <a:ext cx="2545261" cy="522390"/>
          </a:xfrm>
          <a:prstGeom prst="rect">
            <a:avLst/>
          </a:prstGeo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9"/>
            <a:ext cx="9144000" cy="6845300"/>
          </a:xfrm>
          <a:prstGeom prst="rect">
            <a:avLst/>
          </a:prstGeom>
        </p:spPr>
      </p:pic>
      <p:sp>
        <p:nvSpPr>
          <p:cNvPr id="8" name="CasellaDiTesto 7"/>
          <p:cNvSpPr txBox="1"/>
          <p:nvPr/>
        </p:nvSpPr>
        <p:spPr>
          <a:xfrm>
            <a:off x="4914900" y="2932536"/>
            <a:ext cx="362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Trovare l’uscita di un labirinto con il movimento casuale di "particelle"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6524412" y="4590468"/>
            <a:ext cx="2020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1600" b="1" dirty="0">
                <a:latin typeface=""/>
              </a:rPr>
              <a:t>Lorenzo Cappellini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6587860" y="6474363"/>
            <a:ext cx="1418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"/>
              </a:rPr>
              <a:t>A.A. 2025/2026</a:t>
            </a:r>
          </a:p>
        </p:txBody>
      </p:sp>
      <p:sp>
        <p:nvSpPr>
          <p:cNvPr id="15" name="CasellaDiTesto 14"/>
          <p:cNvSpPr txBox="1"/>
          <p:nvPr/>
        </p:nvSpPr>
        <p:spPr>
          <a:xfrm>
            <a:off x="4132793" y="2339173"/>
            <a:ext cx="44117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3200" b="1" dirty="0">
                <a:solidFill>
                  <a:srgbClr val="003257"/>
                </a:solidFill>
                <a:latin typeface="Arial"/>
                <a:cs typeface="Arial"/>
              </a:rPr>
              <a:t>Random Maze Solver</a:t>
            </a:r>
            <a:endParaRPr lang="it-IT" sz="3200" b="1" dirty="0">
              <a:solidFill>
                <a:srgbClr val="003257"/>
              </a:solidFill>
              <a:latin typeface="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54DEAF-610E-2AA5-225B-D055461D50FD}"/>
              </a:ext>
            </a:extLst>
          </p:cNvPr>
          <p:cNvSpPr txBox="1"/>
          <p:nvPr/>
        </p:nvSpPr>
        <p:spPr>
          <a:xfrm>
            <a:off x="6796923" y="4951975"/>
            <a:ext cx="17475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latin typeface="Arial"/>
              </a:defRPr>
            </a:pPr>
            <a:r>
              <a:rPr dirty="0"/>
              <a:t>Parallel Computing</a:t>
            </a:r>
          </a:p>
        </p:txBody>
      </p:sp>
    </p:spTree>
    <p:extLst>
      <p:ext uri="{BB962C8B-B14F-4D97-AF65-F5344CB8AC3E}">
        <p14:creationId xmlns:p14="http://schemas.microsoft.com/office/powerpoint/2010/main" val="33117144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1100</Words>
  <Application>Microsoft Office PowerPoint</Application>
  <PresentationFormat>On-screen Show (4:3)</PresentationFormat>
  <Paragraphs>165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Courier New</vt:lpstr>
      <vt:lpstr>Tema di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susanna</dc:creator>
  <cp:lastModifiedBy>Lorenzo Cappellini</cp:lastModifiedBy>
  <cp:revision>41</cp:revision>
  <dcterms:created xsi:type="dcterms:W3CDTF">2012-12-06T09:21:12Z</dcterms:created>
  <dcterms:modified xsi:type="dcterms:W3CDTF">2026-09-10T23:03:54Z</dcterms:modified>
</cp:coreProperties>
</file>